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1" r:id="rId15"/>
    <p:sldId id="272" r:id="rId16"/>
    <p:sldId id="273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281016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887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" sz="4800" b="1" noProof="0" dirty="0" err="1">
                <a:solidFill>
                  <a:srgbClr val="F8FAFC"/>
                </a:solidFill>
              </a:rPr>
              <a:t>IoT</a:t>
            </a:r>
            <a:r>
              <a:rPr lang="es-ES" sz="4800" b="1" noProof="0">
                <a:solidFill>
                  <a:srgbClr val="F8FAFC"/>
                </a:solidFill>
              </a:rPr>
              <a:t> - Captación</a:t>
            </a:r>
            <a:endParaRPr lang="es-ES" sz="4800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" sz="2200" noProof="0" dirty="0">
                <a:solidFill>
                  <a:srgbClr val="02C39A"/>
                </a:solidFill>
              </a:rPr>
              <a:t>Proceso Completo: De la Idea a la Implementación</a:t>
            </a:r>
            <a:endParaRPr lang="es-ES" sz="2200" noProof="0" dirty="0"/>
          </a:p>
        </p:txBody>
      </p:sp>
      <p:sp>
        <p:nvSpPr>
          <p:cNvPr id="4" name="Text 2"/>
          <p:cNvSpPr/>
          <p:nvPr/>
        </p:nvSpPr>
        <p:spPr>
          <a:xfrm>
            <a:off x="457200" y="2651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" sz="1600" noProof="0" dirty="0">
                <a:solidFill>
                  <a:srgbClr val="64748B"/>
                </a:solidFill>
              </a:rPr>
              <a:t>Captura de Datos con Docker </a:t>
            </a:r>
            <a:r>
              <a:rPr lang="es-ES" sz="1600" noProof="0" dirty="0" err="1">
                <a:solidFill>
                  <a:srgbClr val="64748B"/>
                </a:solidFill>
              </a:rPr>
              <a:t>Compose</a:t>
            </a:r>
            <a:endParaRPr lang="es-ES" sz="1600" noProof="0" dirty="0"/>
          </a:p>
        </p:txBody>
      </p:sp>
      <p:sp>
        <p:nvSpPr>
          <p:cNvPr id="5" name="Text 3"/>
          <p:cNvSpPr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" sz="1200" noProof="0" dirty="0">
                <a:solidFill>
                  <a:srgbClr val="64748B"/>
                </a:solidFill>
              </a:rPr>
              <a:t>Desarrollo de Aplicaciones para </a:t>
            </a:r>
            <a:r>
              <a:rPr lang="es-ES" sz="1200" noProof="0" dirty="0" err="1">
                <a:solidFill>
                  <a:srgbClr val="64748B"/>
                </a:solidFill>
              </a:rPr>
              <a:t>IoT</a:t>
            </a:r>
            <a:r>
              <a:rPr lang="es-ES" sz="1200" noProof="0" dirty="0">
                <a:solidFill>
                  <a:srgbClr val="64748B"/>
                </a:solidFill>
              </a:rPr>
              <a:t> </a:t>
            </a:r>
            <a:endParaRPr lang="es-ES" sz="1200" noProof="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D0BCF4B-2A30-CCB5-65C3-4E499B79B049}"/>
              </a:ext>
            </a:extLst>
          </p:cNvPr>
          <p:cNvSpPr/>
          <p:nvPr/>
        </p:nvSpPr>
        <p:spPr>
          <a:xfrm>
            <a:off x="1828800" y="370332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" sz="1200" noProof="0" dirty="0">
                <a:solidFill>
                  <a:srgbClr val="D1FAE5"/>
                </a:solidFill>
              </a:rPr>
              <a:t>Jon Ochoa, Oier </a:t>
            </a:r>
            <a:r>
              <a:rPr lang="es-ES" sz="1200" noProof="0" dirty="0" err="1">
                <a:solidFill>
                  <a:srgbClr val="D1FAE5"/>
                </a:solidFill>
              </a:rPr>
              <a:t>Martinez</a:t>
            </a:r>
            <a:endParaRPr lang="es-ES" sz="1200" noProof="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3600" b="1" noProof="0" dirty="0">
                <a:solidFill>
                  <a:srgbClr val="1E293B"/>
                </a:solidFill>
              </a:rPr>
              <a:t>Recorrido del Proyecto</a:t>
            </a:r>
            <a:endParaRPr lang="es-ES" sz="3600" noProof="0" dirty="0"/>
          </a:p>
        </p:txBody>
      </p:sp>
      <p:sp>
        <p:nvSpPr>
          <p:cNvPr id="3" name="Shape 1"/>
          <p:cNvSpPr/>
          <p:nvPr/>
        </p:nvSpPr>
        <p:spPr>
          <a:xfrm>
            <a:off x="914400" y="1280160"/>
            <a:ext cx="365760" cy="36576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4" name="Text 2"/>
          <p:cNvSpPr/>
          <p:nvPr/>
        </p:nvSpPr>
        <p:spPr>
          <a:xfrm>
            <a:off x="914400" y="12801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" sz="1600" b="1" noProof="0" dirty="0">
                <a:solidFill>
                  <a:srgbClr val="FFFFFF"/>
                </a:solidFill>
              </a:rPr>
              <a:t>1</a:t>
            </a:r>
            <a:endParaRPr lang="es-ES" sz="1600" noProof="0" dirty="0"/>
          </a:p>
        </p:txBody>
      </p:sp>
      <p:sp>
        <p:nvSpPr>
          <p:cNvPr id="5" name="Text 3"/>
          <p:cNvSpPr/>
          <p:nvPr/>
        </p:nvSpPr>
        <p:spPr>
          <a:xfrm>
            <a:off x="1463040" y="1325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600" noProof="0" dirty="0">
                <a:solidFill>
                  <a:srgbClr val="1E293B"/>
                </a:solidFill>
              </a:rPr>
              <a:t>El Reto y la Solución Propuesta</a:t>
            </a:r>
            <a:endParaRPr lang="es-ES" sz="1600" noProof="0" dirty="0"/>
          </a:p>
        </p:txBody>
      </p:sp>
      <p:sp>
        <p:nvSpPr>
          <p:cNvPr id="6" name="Shape 4"/>
          <p:cNvSpPr/>
          <p:nvPr/>
        </p:nvSpPr>
        <p:spPr>
          <a:xfrm>
            <a:off x="914400" y="1783080"/>
            <a:ext cx="365760" cy="36576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7" name="Text 5"/>
          <p:cNvSpPr/>
          <p:nvPr/>
        </p:nvSpPr>
        <p:spPr>
          <a:xfrm>
            <a:off x="914400" y="1783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" sz="1600" b="1" noProof="0" dirty="0">
                <a:solidFill>
                  <a:srgbClr val="FFFFFF"/>
                </a:solidFill>
              </a:rPr>
              <a:t>2</a:t>
            </a:r>
            <a:endParaRPr lang="es-ES" sz="1600" noProof="0" dirty="0"/>
          </a:p>
        </p:txBody>
      </p:sp>
      <p:sp>
        <p:nvSpPr>
          <p:cNvPr id="8" name="Text 6"/>
          <p:cNvSpPr/>
          <p:nvPr/>
        </p:nvSpPr>
        <p:spPr>
          <a:xfrm>
            <a:off x="1463040" y="1828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600" noProof="0" dirty="0">
                <a:solidFill>
                  <a:srgbClr val="1E293B"/>
                </a:solidFill>
              </a:rPr>
              <a:t>Arquitectura del Sistema</a:t>
            </a:r>
            <a:endParaRPr lang="es-ES" sz="1600" noProof="0" dirty="0"/>
          </a:p>
        </p:txBody>
      </p:sp>
      <p:sp>
        <p:nvSpPr>
          <p:cNvPr id="9" name="Shape 7"/>
          <p:cNvSpPr/>
          <p:nvPr/>
        </p:nvSpPr>
        <p:spPr>
          <a:xfrm>
            <a:off x="914400" y="2286000"/>
            <a:ext cx="365760" cy="36576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0" name="Text 8"/>
          <p:cNvSpPr/>
          <p:nvPr/>
        </p:nvSpPr>
        <p:spPr>
          <a:xfrm>
            <a:off x="914400" y="22860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" sz="1600" b="1" noProof="0" dirty="0">
                <a:solidFill>
                  <a:srgbClr val="FFFFFF"/>
                </a:solidFill>
              </a:rPr>
              <a:t>3</a:t>
            </a:r>
            <a:endParaRPr lang="es-ES" sz="1600" noProof="0" dirty="0"/>
          </a:p>
        </p:txBody>
      </p:sp>
      <p:sp>
        <p:nvSpPr>
          <p:cNvPr id="11" name="Text 9"/>
          <p:cNvSpPr/>
          <p:nvPr/>
        </p:nvSpPr>
        <p:spPr>
          <a:xfrm>
            <a:off x="1463040" y="23317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600" noProof="0" dirty="0">
                <a:solidFill>
                  <a:srgbClr val="1E293B"/>
                </a:solidFill>
              </a:rPr>
              <a:t>Configuración del Entorno</a:t>
            </a:r>
            <a:endParaRPr lang="es-ES" sz="1600" noProof="0" dirty="0"/>
          </a:p>
        </p:txBody>
      </p:sp>
      <p:sp>
        <p:nvSpPr>
          <p:cNvPr id="12" name="Shape 10"/>
          <p:cNvSpPr/>
          <p:nvPr/>
        </p:nvSpPr>
        <p:spPr>
          <a:xfrm>
            <a:off x="914400" y="2788920"/>
            <a:ext cx="365760" cy="36576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3" name="Text 11"/>
          <p:cNvSpPr/>
          <p:nvPr/>
        </p:nvSpPr>
        <p:spPr>
          <a:xfrm>
            <a:off x="914400" y="2788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" sz="1600" b="1" noProof="0" dirty="0">
                <a:solidFill>
                  <a:srgbClr val="FFFFFF"/>
                </a:solidFill>
              </a:rPr>
              <a:t>4</a:t>
            </a:r>
            <a:endParaRPr lang="es-ES" sz="1600" noProof="0" dirty="0"/>
          </a:p>
        </p:txBody>
      </p:sp>
      <p:sp>
        <p:nvSpPr>
          <p:cNvPr id="14" name="Text 12"/>
          <p:cNvSpPr/>
          <p:nvPr/>
        </p:nvSpPr>
        <p:spPr>
          <a:xfrm>
            <a:off x="1463040" y="28346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600" noProof="0" dirty="0">
                <a:solidFill>
                  <a:srgbClr val="1E293B"/>
                </a:solidFill>
              </a:rPr>
              <a:t>Implementación Paso a Paso</a:t>
            </a:r>
            <a:endParaRPr lang="es-ES" sz="1600" noProof="0" dirty="0"/>
          </a:p>
        </p:txBody>
      </p:sp>
      <p:sp>
        <p:nvSpPr>
          <p:cNvPr id="15" name="Shape 13"/>
          <p:cNvSpPr/>
          <p:nvPr/>
        </p:nvSpPr>
        <p:spPr>
          <a:xfrm>
            <a:off x="914400" y="3291840"/>
            <a:ext cx="365760" cy="36576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6" name="Text 14"/>
          <p:cNvSpPr/>
          <p:nvPr/>
        </p:nvSpPr>
        <p:spPr>
          <a:xfrm>
            <a:off x="914400" y="3291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" sz="1600" b="1" noProof="0" dirty="0">
                <a:solidFill>
                  <a:srgbClr val="FFFFFF"/>
                </a:solidFill>
              </a:rPr>
              <a:t>5</a:t>
            </a:r>
            <a:endParaRPr lang="es-ES" sz="1600" noProof="0" dirty="0"/>
          </a:p>
        </p:txBody>
      </p:sp>
      <p:sp>
        <p:nvSpPr>
          <p:cNvPr id="17" name="Text 15"/>
          <p:cNvSpPr/>
          <p:nvPr/>
        </p:nvSpPr>
        <p:spPr>
          <a:xfrm>
            <a:off x="1463040" y="33375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600" noProof="0" dirty="0">
                <a:solidFill>
                  <a:srgbClr val="1E293B"/>
                </a:solidFill>
              </a:rPr>
              <a:t>Problemas Encontrados y Soluciones</a:t>
            </a:r>
            <a:endParaRPr lang="es-ES" sz="1600" noProof="0" dirty="0"/>
          </a:p>
        </p:txBody>
      </p:sp>
      <p:sp>
        <p:nvSpPr>
          <p:cNvPr id="18" name="Shape 16"/>
          <p:cNvSpPr/>
          <p:nvPr/>
        </p:nvSpPr>
        <p:spPr>
          <a:xfrm>
            <a:off x="914400" y="3794760"/>
            <a:ext cx="365760" cy="36576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9" name="Text 17"/>
          <p:cNvSpPr/>
          <p:nvPr/>
        </p:nvSpPr>
        <p:spPr>
          <a:xfrm>
            <a:off x="914400" y="37947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" sz="1600" b="1" noProof="0" dirty="0">
                <a:solidFill>
                  <a:srgbClr val="FFFFFF"/>
                </a:solidFill>
              </a:rPr>
              <a:t>6</a:t>
            </a:r>
            <a:endParaRPr lang="es-ES" sz="1600" noProof="0" dirty="0"/>
          </a:p>
        </p:txBody>
      </p:sp>
      <p:sp>
        <p:nvSpPr>
          <p:cNvPr id="20" name="Text 18"/>
          <p:cNvSpPr/>
          <p:nvPr/>
        </p:nvSpPr>
        <p:spPr>
          <a:xfrm>
            <a:off x="1463040" y="38404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600" noProof="0" dirty="0">
                <a:solidFill>
                  <a:srgbClr val="1E293B"/>
                </a:solidFill>
              </a:rPr>
              <a:t>Resultados y Demo</a:t>
            </a:r>
            <a:endParaRPr lang="es-ES" sz="1600" noProof="0" dirty="0"/>
          </a:p>
        </p:txBody>
      </p:sp>
      <p:sp>
        <p:nvSpPr>
          <p:cNvPr id="21" name="Shape 19"/>
          <p:cNvSpPr/>
          <p:nvPr/>
        </p:nvSpPr>
        <p:spPr>
          <a:xfrm>
            <a:off x="914400" y="4297680"/>
            <a:ext cx="365760" cy="36576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22" name="Text 20"/>
          <p:cNvSpPr/>
          <p:nvPr/>
        </p:nvSpPr>
        <p:spPr>
          <a:xfrm>
            <a:off x="914400" y="42976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" sz="1600" b="1" noProof="0" dirty="0">
                <a:solidFill>
                  <a:srgbClr val="FFFFFF"/>
                </a:solidFill>
              </a:rPr>
              <a:t>7</a:t>
            </a:r>
            <a:endParaRPr lang="es-ES" sz="1600" noProof="0" dirty="0"/>
          </a:p>
        </p:txBody>
      </p:sp>
      <p:sp>
        <p:nvSpPr>
          <p:cNvPr id="23" name="Text 21"/>
          <p:cNvSpPr/>
          <p:nvPr/>
        </p:nvSpPr>
        <p:spPr>
          <a:xfrm>
            <a:off x="1463040" y="43434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600" noProof="0" dirty="0">
                <a:solidFill>
                  <a:srgbClr val="1E293B"/>
                </a:solidFill>
              </a:rPr>
              <a:t>Mejoras Futuras</a:t>
            </a:r>
            <a:endParaRPr lang="es-ES" sz="1600" noProof="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3600" b="1" noProof="0" dirty="0">
                <a:solidFill>
                  <a:srgbClr val="1E293B"/>
                </a:solidFill>
              </a:rPr>
              <a:t>El Reto</a:t>
            </a:r>
            <a:endParaRPr lang="es-ES" sz="3600" noProof="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7680960" cy="640080"/>
          </a:xfrm>
          <a:prstGeom prst="rect">
            <a:avLst/>
          </a:prstGeom>
          <a:solidFill>
            <a:srgbClr val="F59E0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4" name="Text 2"/>
          <p:cNvSpPr/>
          <p:nvPr/>
        </p:nvSpPr>
        <p:spPr>
          <a:xfrm>
            <a:off x="914400" y="12344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" sz="1400" b="1" noProof="0" dirty="0">
                <a:solidFill>
                  <a:srgbClr val="FFFFFF"/>
                </a:solidFill>
              </a:rPr>
              <a:t>📝 Enunciado: Montar en Docker </a:t>
            </a:r>
            <a:r>
              <a:rPr lang="es-ES" sz="1400" b="1" noProof="0" dirty="0" err="1">
                <a:solidFill>
                  <a:srgbClr val="FFFFFF"/>
                </a:solidFill>
              </a:rPr>
              <a:t>Compose</a:t>
            </a:r>
            <a:r>
              <a:rPr lang="es-ES" sz="1400" b="1" noProof="0" dirty="0">
                <a:solidFill>
                  <a:srgbClr val="FFFFFF"/>
                </a:solidFill>
              </a:rPr>
              <a:t> una tecnología que permita enviar datos simulados a otro contenedor que se encargue de almacenarlos y comprobar que se han guardado apropiadamente.</a:t>
            </a:r>
            <a:endParaRPr lang="es-ES" sz="1400" noProof="0" dirty="0"/>
          </a:p>
        </p:txBody>
      </p:sp>
      <p:sp>
        <p:nvSpPr>
          <p:cNvPr id="5" name="Shape 3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solidFill>
            <a:srgbClr val="FFFFFF"/>
          </a:solidFill>
          <a:ln w="254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6" name="Text 4"/>
          <p:cNvSpPr/>
          <p:nvPr/>
        </p:nvSpPr>
        <p:spPr>
          <a:xfrm>
            <a:off x="914400" y="21945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" sz="2800" noProof="0" dirty="0">
                <a:solidFill>
                  <a:srgbClr val="000000"/>
                </a:solidFill>
              </a:rPr>
              <a:t>📊</a:t>
            </a:r>
            <a:endParaRPr lang="es-ES" sz="2800" noProof="0" dirty="0"/>
          </a:p>
        </p:txBody>
      </p:sp>
      <p:sp>
        <p:nvSpPr>
          <p:cNvPr id="7" name="Text 5"/>
          <p:cNvSpPr/>
          <p:nvPr/>
        </p:nvSpPr>
        <p:spPr>
          <a:xfrm>
            <a:off x="1554480" y="217627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600" b="1" noProof="0" dirty="0">
                <a:solidFill>
                  <a:srgbClr val="028090"/>
                </a:solidFill>
              </a:rPr>
              <a:t>Captura de Datos</a:t>
            </a:r>
            <a:endParaRPr lang="es-ES" sz="1600" noProof="0" dirty="0"/>
          </a:p>
        </p:txBody>
      </p:sp>
      <p:sp>
        <p:nvSpPr>
          <p:cNvPr id="8" name="Text 6"/>
          <p:cNvSpPr/>
          <p:nvPr/>
        </p:nvSpPr>
        <p:spPr>
          <a:xfrm>
            <a:off x="3931920" y="22402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300" noProof="0" dirty="0">
                <a:solidFill>
                  <a:srgbClr val="64748B"/>
                </a:solidFill>
              </a:rPr>
              <a:t>Simular un sensor </a:t>
            </a:r>
            <a:r>
              <a:rPr lang="es-ES" sz="1300" noProof="0" dirty="0" err="1">
                <a:solidFill>
                  <a:srgbClr val="64748B"/>
                </a:solidFill>
              </a:rPr>
              <a:t>IoT</a:t>
            </a:r>
            <a:r>
              <a:rPr lang="es-ES" sz="1300" noProof="0" dirty="0">
                <a:solidFill>
                  <a:srgbClr val="64748B"/>
                </a:solidFill>
              </a:rPr>
              <a:t> que genere datos realistas</a:t>
            </a:r>
            <a:endParaRPr lang="es-ES" sz="1300" noProof="0" dirty="0"/>
          </a:p>
        </p:txBody>
      </p:sp>
      <p:sp>
        <p:nvSpPr>
          <p:cNvPr id="9" name="Shape 7"/>
          <p:cNvSpPr/>
          <p:nvPr/>
        </p:nvSpPr>
        <p:spPr>
          <a:xfrm>
            <a:off x="731520" y="3017520"/>
            <a:ext cx="7680960" cy="640080"/>
          </a:xfrm>
          <a:prstGeom prst="rect">
            <a:avLst/>
          </a:prstGeom>
          <a:solidFill>
            <a:srgbClr val="FFFFFF"/>
          </a:solidFill>
          <a:ln w="254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10" name="Text 8"/>
          <p:cNvSpPr/>
          <p:nvPr/>
        </p:nvSpPr>
        <p:spPr>
          <a:xfrm>
            <a:off x="914400" y="3108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" sz="2800" noProof="0" dirty="0">
                <a:solidFill>
                  <a:srgbClr val="000000"/>
                </a:solidFill>
              </a:rPr>
              <a:t>💾</a:t>
            </a:r>
            <a:endParaRPr lang="es-ES" sz="2800" noProof="0" dirty="0"/>
          </a:p>
        </p:txBody>
      </p:sp>
      <p:sp>
        <p:nvSpPr>
          <p:cNvPr id="11" name="Text 9"/>
          <p:cNvSpPr/>
          <p:nvPr/>
        </p:nvSpPr>
        <p:spPr>
          <a:xfrm>
            <a:off x="1554480" y="309067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600" b="1" noProof="0" dirty="0">
                <a:solidFill>
                  <a:srgbClr val="028090"/>
                </a:solidFill>
              </a:rPr>
              <a:t>Almacenamiento</a:t>
            </a:r>
            <a:endParaRPr lang="es-ES" sz="1600" noProof="0" dirty="0"/>
          </a:p>
        </p:txBody>
      </p:sp>
      <p:sp>
        <p:nvSpPr>
          <p:cNvPr id="12" name="Text 10"/>
          <p:cNvSpPr/>
          <p:nvPr/>
        </p:nvSpPr>
        <p:spPr>
          <a:xfrm>
            <a:off x="3931920" y="31546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300" noProof="0" dirty="0">
                <a:solidFill>
                  <a:srgbClr val="64748B"/>
                </a:solidFill>
              </a:rPr>
              <a:t>Guardar datos de forma eficiente y persistente</a:t>
            </a:r>
            <a:endParaRPr lang="es-ES" sz="1300" noProof="0" dirty="0"/>
          </a:p>
        </p:txBody>
      </p:sp>
      <p:sp>
        <p:nvSpPr>
          <p:cNvPr id="13" name="Shape 11"/>
          <p:cNvSpPr/>
          <p:nvPr/>
        </p:nvSpPr>
        <p:spPr>
          <a:xfrm>
            <a:off x="731520" y="3931920"/>
            <a:ext cx="7680960" cy="640080"/>
          </a:xfrm>
          <a:prstGeom prst="rect">
            <a:avLst/>
          </a:prstGeom>
          <a:solidFill>
            <a:srgbClr val="FFFFFF"/>
          </a:solidFill>
          <a:ln w="254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14" name="Text 12"/>
          <p:cNvSpPr/>
          <p:nvPr/>
        </p:nvSpPr>
        <p:spPr>
          <a:xfrm>
            <a:off x="914400" y="4023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" sz="2800" noProof="0" dirty="0">
                <a:solidFill>
                  <a:srgbClr val="000000"/>
                </a:solidFill>
              </a:rPr>
              <a:t>📈</a:t>
            </a:r>
            <a:endParaRPr lang="es-ES" sz="2800" noProof="0" dirty="0"/>
          </a:p>
        </p:txBody>
      </p:sp>
      <p:sp>
        <p:nvSpPr>
          <p:cNvPr id="15" name="Text 13"/>
          <p:cNvSpPr/>
          <p:nvPr/>
        </p:nvSpPr>
        <p:spPr>
          <a:xfrm>
            <a:off x="1554480" y="400507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600" b="1" noProof="0" dirty="0">
                <a:solidFill>
                  <a:srgbClr val="028090"/>
                </a:solidFill>
              </a:rPr>
              <a:t>Visualización</a:t>
            </a:r>
            <a:endParaRPr lang="es-ES" sz="1600" noProof="0" dirty="0"/>
          </a:p>
        </p:txBody>
      </p:sp>
      <p:sp>
        <p:nvSpPr>
          <p:cNvPr id="16" name="Text 14"/>
          <p:cNvSpPr/>
          <p:nvPr/>
        </p:nvSpPr>
        <p:spPr>
          <a:xfrm>
            <a:off x="3931920" y="40690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300" noProof="0" dirty="0">
                <a:solidFill>
                  <a:srgbClr val="64748B"/>
                </a:solidFill>
              </a:rPr>
              <a:t>Mostrar los datos en tiempo real</a:t>
            </a:r>
            <a:endParaRPr lang="es-ES" sz="1300" noProof="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3600" b="1" noProof="0" dirty="0">
                <a:solidFill>
                  <a:srgbClr val="1E293B"/>
                </a:solidFill>
              </a:rPr>
              <a:t>Arquitectura de la Solución</a:t>
            </a:r>
            <a:endParaRPr lang="es-ES" sz="3600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" sz="1400" i="1" noProof="0" dirty="0">
                <a:solidFill>
                  <a:srgbClr val="64748B"/>
                </a:solidFill>
              </a:rPr>
              <a:t>Sistema de 3 contenedores comunicándose por red virtual</a:t>
            </a:r>
            <a:endParaRPr lang="es-ES" sz="1400" noProof="0" dirty="0"/>
          </a:p>
        </p:txBody>
      </p:sp>
      <p:sp>
        <p:nvSpPr>
          <p:cNvPr id="4" name="Shape 2"/>
          <p:cNvSpPr/>
          <p:nvPr/>
        </p:nvSpPr>
        <p:spPr>
          <a:xfrm>
            <a:off x="45720" y="1554480"/>
            <a:ext cx="2286000" cy="1280160"/>
          </a:xfrm>
          <a:prstGeom prst="rect">
            <a:avLst/>
          </a:prstGeom>
          <a:solidFill>
            <a:srgbClr val="028090"/>
          </a:solidFill>
          <a:ln w="254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5" name="Text 3"/>
          <p:cNvSpPr/>
          <p:nvPr/>
        </p:nvSpPr>
        <p:spPr>
          <a:xfrm>
            <a:off x="45720" y="16459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" sz="4000" noProof="0" dirty="0">
                <a:solidFill>
                  <a:srgbClr val="000000"/>
                </a:solidFill>
              </a:rPr>
              <a:t>🐍</a:t>
            </a:r>
            <a:endParaRPr lang="es-ES" sz="4000" noProof="0" dirty="0"/>
          </a:p>
        </p:txBody>
      </p:sp>
      <p:sp>
        <p:nvSpPr>
          <p:cNvPr id="6" name="Text 4"/>
          <p:cNvSpPr/>
          <p:nvPr/>
        </p:nvSpPr>
        <p:spPr>
          <a:xfrm>
            <a:off x="45720" y="21945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" sz="1400" b="1" noProof="0" dirty="0">
                <a:solidFill>
                  <a:srgbClr val="FFFFFF"/>
                </a:solidFill>
              </a:rPr>
              <a:t>SENSOR</a:t>
            </a:r>
            <a:endParaRPr lang="es-ES" sz="1400" noProof="0" dirty="0"/>
          </a:p>
          <a:p>
            <a:pPr marL="0" indent="0" algn="ctr">
              <a:buNone/>
            </a:pPr>
            <a:r>
              <a:rPr lang="es-ES" sz="1400" b="1" noProof="0" dirty="0">
                <a:solidFill>
                  <a:srgbClr val="FFFFFF"/>
                </a:solidFill>
              </a:rPr>
              <a:t>Python 3.12</a:t>
            </a:r>
            <a:endParaRPr lang="es-ES" sz="1400" noProof="0" dirty="0"/>
          </a:p>
        </p:txBody>
      </p:sp>
      <p:sp>
        <p:nvSpPr>
          <p:cNvPr id="7" name="Text 5"/>
          <p:cNvSpPr/>
          <p:nvPr/>
        </p:nvSpPr>
        <p:spPr>
          <a:xfrm>
            <a:off x="45720" y="30175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" sz="1000" noProof="0" dirty="0">
                <a:solidFill>
                  <a:srgbClr val="0070C0"/>
                </a:solidFill>
              </a:rPr>
              <a:t>• Genera datos</a:t>
            </a:r>
          </a:p>
          <a:p>
            <a:pPr marL="0" indent="0" algn="ctr">
              <a:buNone/>
            </a:pPr>
            <a:r>
              <a:rPr lang="es-ES" sz="1000" noProof="0" dirty="0">
                <a:solidFill>
                  <a:srgbClr val="0070C0"/>
                </a:solidFill>
              </a:rPr>
              <a:t>• Cada 5 segundos</a:t>
            </a:r>
          </a:p>
          <a:p>
            <a:pPr marL="0" indent="0" algn="ctr">
              <a:buNone/>
            </a:pPr>
            <a:r>
              <a:rPr lang="es-ES" sz="1000" noProof="0" dirty="0">
                <a:solidFill>
                  <a:srgbClr val="0070C0"/>
                </a:solidFill>
              </a:rPr>
              <a:t>• HTTP POST</a:t>
            </a:r>
          </a:p>
        </p:txBody>
      </p:sp>
      <p:sp>
        <p:nvSpPr>
          <p:cNvPr id="8" name="Shape 6"/>
          <p:cNvSpPr/>
          <p:nvPr/>
        </p:nvSpPr>
        <p:spPr>
          <a:xfrm>
            <a:off x="2423160" y="2103120"/>
            <a:ext cx="914400" cy="365760"/>
          </a:xfrm>
          <a:prstGeom prst="rightArrow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9" name="Text 7"/>
          <p:cNvSpPr/>
          <p:nvPr/>
        </p:nvSpPr>
        <p:spPr>
          <a:xfrm>
            <a:off x="2514600" y="182880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" sz="900" noProof="0" dirty="0">
                <a:solidFill>
                  <a:srgbClr val="64748B"/>
                </a:solidFill>
              </a:rPr>
              <a:t>influxdb:8086</a:t>
            </a:r>
            <a:endParaRPr lang="es-ES" sz="900" noProof="0" dirty="0"/>
          </a:p>
        </p:txBody>
      </p:sp>
      <p:sp>
        <p:nvSpPr>
          <p:cNvPr id="10" name="Shape 8"/>
          <p:cNvSpPr/>
          <p:nvPr/>
        </p:nvSpPr>
        <p:spPr>
          <a:xfrm>
            <a:off x="3429000" y="1554480"/>
            <a:ext cx="2286000" cy="1280160"/>
          </a:xfrm>
          <a:prstGeom prst="rect">
            <a:avLst/>
          </a:prstGeom>
          <a:solidFill>
            <a:srgbClr val="00A896"/>
          </a:solidFill>
          <a:ln w="254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11" name="Text 9"/>
          <p:cNvSpPr/>
          <p:nvPr/>
        </p:nvSpPr>
        <p:spPr>
          <a:xfrm>
            <a:off x="3429000" y="16459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" sz="4000" noProof="0" dirty="0">
                <a:solidFill>
                  <a:srgbClr val="000000"/>
                </a:solidFill>
              </a:rPr>
              <a:t>💾</a:t>
            </a:r>
            <a:endParaRPr lang="es-ES" sz="4000" noProof="0" dirty="0"/>
          </a:p>
        </p:txBody>
      </p:sp>
      <p:sp>
        <p:nvSpPr>
          <p:cNvPr id="12" name="Text 10"/>
          <p:cNvSpPr/>
          <p:nvPr/>
        </p:nvSpPr>
        <p:spPr>
          <a:xfrm>
            <a:off x="3429000" y="21945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" sz="1400" b="1" noProof="0" dirty="0">
                <a:solidFill>
                  <a:srgbClr val="FFFFFF"/>
                </a:solidFill>
              </a:rPr>
              <a:t>INFLUXDB</a:t>
            </a:r>
            <a:endParaRPr lang="es-ES" sz="1400" noProof="0" dirty="0"/>
          </a:p>
          <a:p>
            <a:pPr marL="0" indent="0" algn="ctr">
              <a:buNone/>
            </a:pPr>
            <a:r>
              <a:rPr lang="es-ES" sz="1400" b="1" noProof="0" dirty="0">
                <a:solidFill>
                  <a:srgbClr val="FFFFFF"/>
                </a:solidFill>
              </a:rPr>
              <a:t>v2.7</a:t>
            </a:r>
            <a:endParaRPr lang="es-ES" sz="1400" noProof="0" dirty="0"/>
          </a:p>
        </p:txBody>
      </p:sp>
      <p:sp>
        <p:nvSpPr>
          <p:cNvPr id="13" name="Text 11"/>
          <p:cNvSpPr/>
          <p:nvPr/>
        </p:nvSpPr>
        <p:spPr>
          <a:xfrm>
            <a:off x="3429000" y="30175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" sz="1000" noProof="0" dirty="0">
                <a:solidFill>
                  <a:srgbClr val="0070C0"/>
                </a:solidFill>
              </a:rPr>
              <a:t>• Base de datos</a:t>
            </a:r>
          </a:p>
          <a:p>
            <a:pPr marL="0" indent="0" algn="ctr">
              <a:buNone/>
            </a:pPr>
            <a:r>
              <a:rPr lang="es-ES" sz="1000" noProof="0" dirty="0">
                <a:solidFill>
                  <a:srgbClr val="0070C0"/>
                </a:solidFill>
              </a:rPr>
              <a:t>• Series temporales</a:t>
            </a:r>
          </a:p>
          <a:p>
            <a:pPr marL="0" indent="0" algn="ctr">
              <a:buNone/>
            </a:pPr>
            <a:r>
              <a:rPr lang="es-ES" sz="1000" noProof="0" dirty="0">
                <a:solidFill>
                  <a:srgbClr val="0070C0"/>
                </a:solidFill>
              </a:rPr>
              <a:t>• Volumen persistente</a:t>
            </a:r>
          </a:p>
        </p:txBody>
      </p:sp>
      <p:sp>
        <p:nvSpPr>
          <p:cNvPr id="14" name="Shape 12"/>
          <p:cNvSpPr/>
          <p:nvPr/>
        </p:nvSpPr>
        <p:spPr>
          <a:xfrm>
            <a:off x="5806440" y="2103120"/>
            <a:ext cx="914400" cy="365760"/>
          </a:xfrm>
          <a:prstGeom prst="rightArrow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5" name="Text 13"/>
          <p:cNvSpPr/>
          <p:nvPr/>
        </p:nvSpPr>
        <p:spPr>
          <a:xfrm>
            <a:off x="5897880" y="182880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" sz="900" noProof="0" dirty="0">
                <a:solidFill>
                  <a:srgbClr val="64748B"/>
                </a:solidFill>
              </a:rPr>
              <a:t>Flux </a:t>
            </a:r>
            <a:r>
              <a:rPr lang="es-ES" sz="900" noProof="0" dirty="0" err="1">
                <a:solidFill>
                  <a:srgbClr val="64748B"/>
                </a:solidFill>
              </a:rPr>
              <a:t>Query</a:t>
            </a:r>
            <a:endParaRPr lang="es-ES" sz="900" noProof="0" dirty="0"/>
          </a:p>
        </p:txBody>
      </p:sp>
      <p:sp>
        <p:nvSpPr>
          <p:cNvPr id="16" name="Shape 14"/>
          <p:cNvSpPr/>
          <p:nvPr/>
        </p:nvSpPr>
        <p:spPr>
          <a:xfrm>
            <a:off x="6812280" y="1554480"/>
            <a:ext cx="2286000" cy="1280160"/>
          </a:xfrm>
          <a:prstGeom prst="rect">
            <a:avLst/>
          </a:prstGeom>
          <a:solidFill>
            <a:srgbClr val="02C39A"/>
          </a:solidFill>
          <a:ln w="254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17" name="Text 15"/>
          <p:cNvSpPr/>
          <p:nvPr/>
        </p:nvSpPr>
        <p:spPr>
          <a:xfrm>
            <a:off x="6812280" y="16459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" sz="4000" noProof="0" dirty="0">
                <a:solidFill>
                  <a:srgbClr val="000000"/>
                </a:solidFill>
              </a:rPr>
              <a:t>📊</a:t>
            </a:r>
            <a:endParaRPr lang="es-ES" sz="4000" noProof="0" dirty="0"/>
          </a:p>
        </p:txBody>
      </p:sp>
      <p:sp>
        <p:nvSpPr>
          <p:cNvPr id="18" name="Text 16"/>
          <p:cNvSpPr/>
          <p:nvPr/>
        </p:nvSpPr>
        <p:spPr>
          <a:xfrm>
            <a:off x="6812280" y="21945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" sz="1400" b="1" noProof="0" dirty="0">
                <a:solidFill>
                  <a:srgbClr val="FFFFFF"/>
                </a:solidFill>
              </a:rPr>
              <a:t>GRAFANA</a:t>
            </a:r>
            <a:endParaRPr lang="es-ES" sz="1400" noProof="0" dirty="0"/>
          </a:p>
          <a:p>
            <a:pPr marL="0" indent="0" algn="ctr">
              <a:buNone/>
            </a:pPr>
            <a:r>
              <a:rPr lang="es-ES" sz="1400" b="1" noProof="0" dirty="0" err="1">
                <a:solidFill>
                  <a:srgbClr val="FFFFFF"/>
                </a:solidFill>
              </a:rPr>
              <a:t>Dashboard</a:t>
            </a:r>
            <a:endParaRPr lang="es-ES" sz="1400" noProof="0" dirty="0"/>
          </a:p>
        </p:txBody>
      </p:sp>
      <p:sp>
        <p:nvSpPr>
          <p:cNvPr id="19" name="Text 17"/>
          <p:cNvSpPr/>
          <p:nvPr/>
        </p:nvSpPr>
        <p:spPr>
          <a:xfrm>
            <a:off x="6812280" y="30175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" sz="1000" noProof="0" dirty="0">
                <a:solidFill>
                  <a:srgbClr val="0070C0"/>
                </a:solidFill>
              </a:rPr>
              <a:t>• Visualización</a:t>
            </a:r>
          </a:p>
          <a:p>
            <a:pPr marL="0" indent="0" algn="ctr">
              <a:buNone/>
            </a:pPr>
            <a:r>
              <a:rPr lang="es-ES" sz="1000" noProof="0" dirty="0">
                <a:solidFill>
                  <a:srgbClr val="0070C0"/>
                </a:solidFill>
              </a:rPr>
              <a:t>• Tiempo real</a:t>
            </a:r>
          </a:p>
          <a:p>
            <a:pPr marL="0" indent="0" algn="ctr">
              <a:buNone/>
            </a:pPr>
            <a:r>
              <a:rPr lang="es-ES" sz="1000" noProof="0" dirty="0">
                <a:solidFill>
                  <a:srgbClr val="0070C0"/>
                </a:solidFill>
              </a:rPr>
              <a:t>• </a:t>
            </a:r>
            <a:r>
              <a:rPr lang="es-ES" sz="1000" noProof="0" dirty="0" err="1">
                <a:solidFill>
                  <a:srgbClr val="0070C0"/>
                </a:solidFill>
              </a:rPr>
              <a:t>Auto-refresh</a:t>
            </a:r>
            <a:r>
              <a:rPr lang="es-ES" sz="1000" noProof="0" dirty="0">
                <a:solidFill>
                  <a:srgbClr val="0070C0"/>
                </a:solidFill>
              </a:rPr>
              <a:t> 5s</a:t>
            </a:r>
          </a:p>
        </p:txBody>
      </p:sp>
      <p:sp>
        <p:nvSpPr>
          <p:cNvPr id="20" name="Shape 18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solidFill>
            <a:srgbClr val="1E293B"/>
          </a:solidFill>
          <a:ln w="254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21" name="Text 19"/>
          <p:cNvSpPr/>
          <p:nvPr/>
        </p:nvSpPr>
        <p:spPr>
          <a:xfrm>
            <a:off x="457200" y="3931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" sz="1400" b="1" noProof="0" dirty="0">
                <a:solidFill>
                  <a:srgbClr val="02C39A"/>
                </a:solidFill>
              </a:rPr>
              <a:t>🌐 Red Docker: </a:t>
            </a:r>
            <a:r>
              <a:rPr lang="es-ES" sz="1400" b="1" noProof="0" dirty="0" err="1">
                <a:solidFill>
                  <a:srgbClr val="02C39A"/>
                </a:solidFill>
              </a:rPr>
              <a:t>iot_network</a:t>
            </a:r>
            <a:r>
              <a:rPr lang="es-ES" sz="1400" b="1" noProof="0" dirty="0">
                <a:solidFill>
                  <a:srgbClr val="02C39A"/>
                </a:solidFill>
              </a:rPr>
              <a:t> (Bridge)</a:t>
            </a:r>
            <a:endParaRPr lang="es-ES" sz="1400" noProof="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3600" b="1" noProof="0" dirty="0">
                <a:solidFill>
                  <a:srgbClr val="1E293B"/>
                </a:solidFill>
              </a:rPr>
              <a:t>Paso 1: Preparar el Entorno</a:t>
            </a:r>
            <a:endParaRPr lang="es-ES" sz="3600" noProof="0" dirty="0"/>
          </a:p>
        </p:txBody>
      </p:sp>
      <p:sp>
        <p:nvSpPr>
          <p:cNvPr id="3" name="Shape 1"/>
          <p:cNvSpPr/>
          <p:nvPr/>
        </p:nvSpPr>
        <p:spPr>
          <a:xfrm>
            <a:off x="731520" y="1280160"/>
            <a:ext cx="7680960" cy="914400"/>
          </a:xfrm>
          <a:prstGeom prst="rect">
            <a:avLst/>
          </a:prstGeom>
          <a:solidFill>
            <a:srgbClr val="FFFFFF"/>
          </a:solidFill>
          <a:ln w="254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4" name="Shape 2"/>
          <p:cNvSpPr/>
          <p:nvPr/>
        </p:nvSpPr>
        <p:spPr>
          <a:xfrm>
            <a:off x="914400" y="1325880"/>
            <a:ext cx="365760" cy="36576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5" name="Text 3"/>
          <p:cNvSpPr/>
          <p:nvPr/>
        </p:nvSpPr>
        <p:spPr>
          <a:xfrm>
            <a:off x="865216" y="1325880"/>
            <a:ext cx="464127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" sz="1200" b="1" noProof="0" dirty="0">
                <a:solidFill>
                  <a:srgbClr val="FFFFFF"/>
                </a:solidFill>
              </a:rPr>
              <a:t>1.1</a:t>
            </a:r>
            <a:endParaRPr lang="es-ES" sz="1200" noProof="0" dirty="0"/>
          </a:p>
        </p:txBody>
      </p:sp>
      <p:sp>
        <p:nvSpPr>
          <p:cNvPr id="6" name="Text 4"/>
          <p:cNvSpPr/>
          <p:nvPr/>
        </p:nvSpPr>
        <p:spPr>
          <a:xfrm>
            <a:off x="1463040" y="135331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400" b="1" noProof="0" dirty="0">
                <a:solidFill>
                  <a:srgbClr val="1E293B"/>
                </a:solidFill>
              </a:rPr>
              <a:t>Verificar Docker</a:t>
            </a:r>
            <a:endParaRPr lang="es-ES" sz="1400" noProof="0" dirty="0"/>
          </a:p>
        </p:txBody>
      </p:sp>
      <p:sp>
        <p:nvSpPr>
          <p:cNvPr id="7" name="Shape 5"/>
          <p:cNvSpPr/>
          <p:nvPr/>
        </p:nvSpPr>
        <p:spPr>
          <a:xfrm>
            <a:off x="1463040" y="1691640"/>
            <a:ext cx="2743200" cy="41148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8" name="Text 6"/>
          <p:cNvSpPr/>
          <p:nvPr/>
        </p:nvSpPr>
        <p:spPr>
          <a:xfrm>
            <a:off x="1554480" y="17373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000"/>
              </a:lnSpc>
              <a:buNone/>
            </a:pPr>
            <a:r>
              <a:rPr lang="es-ES" sz="800" noProof="0" dirty="0" err="1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</a:t>
            </a:r>
            <a:r>
              <a:rPr lang="es-ES" sz="8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--</a:t>
            </a:r>
            <a:r>
              <a:rPr lang="es-ES" sz="800" noProof="0" dirty="0" err="1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version</a:t>
            </a:r>
            <a:endParaRPr lang="es-ES" sz="800" noProof="0" dirty="0"/>
          </a:p>
          <a:p>
            <a:pPr marL="0" indent="0">
              <a:lnSpc>
                <a:spcPts val="1000"/>
              </a:lnSpc>
              <a:buNone/>
            </a:pPr>
            <a:r>
              <a:rPr lang="es-ES" sz="800" noProof="0" dirty="0" err="1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</a:t>
            </a:r>
            <a:r>
              <a:rPr lang="es-ES" sz="8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s-ES" sz="800" noProof="0" dirty="0" err="1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compose</a:t>
            </a:r>
            <a:r>
              <a:rPr lang="es-ES" sz="8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s-ES" sz="800" noProof="0" dirty="0" err="1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version</a:t>
            </a:r>
            <a:endParaRPr lang="es-ES" sz="800" noProof="0" dirty="0"/>
          </a:p>
        </p:txBody>
      </p:sp>
      <p:sp>
        <p:nvSpPr>
          <p:cNvPr id="9" name="Text 7"/>
          <p:cNvSpPr/>
          <p:nvPr/>
        </p:nvSpPr>
        <p:spPr>
          <a:xfrm>
            <a:off x="4389120" y="155448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100" noProof="0" dirty="0">
                <a:solidFill>
                  <a:srgbClr val="64748B"/>
                </a:solidFill>
              </a:rPr>
              <a:t>Comprobar que Docker está instalado y funcionando</a:t>
            </a:r>
            <a:endParaRPr lang="es-ES" sz="1100" noProof="0" dirty="0"/>
          </a:p>
        </p:txBody>
      </p:sp>
      <p:sp>
        <p:nvSpPr>
          <p:cNvPr id="10" name="Shape 8"/>
          <p:cNvSpPr/>
          <p:nvPr/>
        </p:nvSpPr>
        <p:spPr>
          <a:xfrm>
            <a:off x="731520" y="2377440"/>
            <a:ext cx="7680960" cy="914400"/>
          </a:xfrm>
          <a:prstGeom prst="rect">
            <a:avLst/>
          </a:prstGeom>
          <a:solidFill>
            <a:srgbClr val="FFFFFF"/>
          </a:solidFill>
          <a:ln w="254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11" name="Shape 9"/>
          <p:cNvSpPr/>
          <p:nvPr/>
        </p:nvSpPr>
        <p:spPr>
          <a:xfrm>
            <a:off x="914400" y="2423160"/>
            <a:ext cx="365760" cy="36576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2" name="Text 10"/>
          <p:cNvSpPr/>
          <p:nvPr/>
        </p:nvSpPr>
        <p:spPr>
          <a:xfrm>
            <a:off x="914399" y="2423160"/>
            <a:ext cx="414943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" sz="1200" b="1" noProof="0" dirty="0">
                <a:solidFill>
                  <a:srgbClr val="FFFFFF"/>
                </a:solidFill>
              </a:rPr>
              <a:t>1.2</a:t>
            </a:r>
            <a:endParaRPr lang="es-ES" sz="1200" noProof="0" dirty="0"/>
          </a:p>
        </p:txBody>
      </p:sp>
      <p:sp>
        <p:nvSpPr>
          <p:cNvPr id="13" name="Text 11"/>
          <p:cNvSpPr/>
          <p:nvPr/>
        </p:nvSpPr>
        <p:spPr>
          <a:xfrm>
            <a:off x="1463040" y="245059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400" b="1" noProof="0" dirty="0">
                <a:solidFill>
                  <a:srgbClr val="1E293B"/>
                </a:solidFill>
              </a:rPr>
              <a:t>Crear estructura</a:t>
            </a:r>
            <a:endParaRPr lang="es-ES" sz="1400" noProof="0" dirty="0"/>
          </a:p>
        </p:txBody>
      </p:sp>
      <p:sp>
        <p:nvSpPr>
          <p:cNvPr id="14" name="Shape 12"/>
          <p:cNvSpPr/>
          <p:nvPr/>
        </p:nvSpPr>
        <p:spPr>
          <a:xfrm>
            <a:off x="1463040" y="2788920"/>
            <a:ext cx="2743200" cy="41148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5" name="Text 13"/>
          <p:cNvSpPr/>
          <p:nvPr/>
        </p:nvSpPr>
        <p:spPr>
          <a:xfrm>
            <a:off x="1554480" y="28346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000"/>
              </a:lnSpc>
              <a:buNone/>
            </a:pPr>
            <a:r>
              <a:rPr lang="es-ES" sz="800" noProof="0" dirty="0" err="1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mkdir</a:t>
            </a:r>
            <a:r>
              <a:rPr lang="es-ES" sz="8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proyecto-</a:t>
            </a:r>
            <a:r>
              <a:rPr lang="es-ES" sz="800" noProof="0" dirty="0" err="1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iot</a:t>
            </a:r>
            <a:endParaRPr lang="es-ES" sz="800" noProof="0" dirty="0"/>
          </a:p>
          <a:p>
            <a:pPr marL="0" indent="0">
              <a:lnSpc>
                <a:spcPts val="1000"/>
              </a:lnSpc>
              <a:buNone/>
            </a:pPr>
            <a:r>
              <a:rPr lang="es-ES" sz="8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proyecto-</a:t>
            </a:r>
            <a:r>
              <a:rPr lang="es-ES" sz="800" noProof="0" dirty="0" err="1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iot</a:t>
            </a:r>
            <a:endParaRPr lang="es-ES" sz="800" noProof="0" dirty="0"/>
          </a:p>
          <a:p>
            <a:pPr marL="0" indent="0">
              <a:lnSpc>
                <a:spcPts val="1000"/>
              </a:lnSpc>
              <a:buNone/>
            </a:pPr>
            <a:r>
              <a:rPr lang="es-ES" sz="800" noProof="0" dirty="0" err="1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mkdir</a:t>
            </a:r>
            <a:r>
              <a:rPr lang="es-ES" sz="8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sensor</a:t>
            </a:r>
            <a:endParaRPr lang="es-ES" sz="800" noProof="0" dirty="0"/>
          </a:p>
        </p:txBody>
      </p:sp>
      <p:sp>
        <p:nvSpPr>
          <p:cNvPr id="16" name="Text 14"/>
          <p:cNvSpPr/>
          <p:nvPr/>
        </p:nvSpPr>
        <p:spPr>
          <a:xfrm>
            <a:off x="4389120" y="26517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100" noProof="0" dirty="0">
                <a:solidFill>
                  <a:srgbClr val="64748B"/>
                </a:solidFill>
              </a:rPr>
              <a:t>Crear carpetas del proyecto</a:t>
            </a:r>
            <a:endParaRPr lang="es-ES" sz="1100" noProof="0" dirty="0"/>
          </a:p>
        </p:txBody>
      </p:sp>
      <p:sp>
        <p:nvSpPr>
          <p:cNvPr id="17" name="Shape 15"/>
          <p:cNvSpPr/>
          <p:nvPr/>
        </p:nvSpPr>
        <p:spPr>
          <a:xfrm>
            <a:off x="731520" y="3474720"/>
            <a:ext cx="7680960" cy="914400"/>
          </a:xfrm>
          <a:prstGeom prst="rect">
            <a:avLst/>
          </a:prstGeom>
          <a:solidFill>
            <a:srgbClr val="FFFFFF"/>
          </a:solidFill>
          <a:ln w="254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18" name="Shape 16"/>
          <p:cNvSpPr/>
          <p:nvPr/>
        </p:nvSpPr>
        <p:spPr>
          <a:xfrm>
            <a:off x="914400" y="3520440"/>
            <a:ext cx="365760" cy="36576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9" name="Text 17"/>
          <p:cNvSpPr/>
          <p:nvPr/>
        </p:nvSpPr>
        <p:spPr>
          <a:xfrm>
            <a:off x="889807" y="3547872"/>
            <a:ext cx="414943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" sz="1200" b="1" noProof="0" dirty="0">
                <a:solidFill>
                  <a:srgbClr val="FFFFFF"/>
                </a:solidFill>
              </a:rPr>
              <a:t>1.3</a:t>
            </a:r>
            <a:endParaRPr lang="es-ES" sz="1200" noProof="0" dirty="0"/>
          </a:p>
        </p:txBody>
      </p:sp>
      <p:sp>
        <p:nvSpPr>
          <p:cNvPr id="20" name="Text 18"/>
          <p:cNvSpPr/>
          <p:nvPr/>
        </p:nvSpPr>
        <p:spPr>
          <a:xfrm>
            <a:off x="1463040" y="354787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400" b="1" noProof="0" dirty="0">
                <a:solidFill>
                  <a:srgbClr val="1E293B"/>
                </a:solidFill>
              </a:rPr>
              <a:t>Inicializar Git</a:t>
            </a:r>
            <a:endParaRPr lang="es-ES" sz="1400" noProof="0" dirty="0"/>
          </a:p>
        </p:txBody>
      </p:sp>
      <p:sp>
        <p:nvSpPr>
          <p:cNvPr id="21" name="Shape 19"/>
          <p:cNvSpPr/>
          <p:nvPr/>
        </p:nvSpPr>
        <p:spPr>
          <a:xfrm>
            <a:off x="1463040" y="3886200"/>
            <a:ext cx="2743200" cy="41148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22" name="Text 20"/>
          <p:cNvSpPr/>
          <p:nvPr/>
        </p:nvSpPr>
        <p:spPr>
          <a:xfrm>
            <a:off x="1554480" y="39319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000"/>
              </a:lnSpc>
              <a:buNone/>
            </a:pPr>
            <a:r>
              <a:rPr lang="es-ES" sz="800" noProof="0" dirty="0" err="1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</a:t>
            </a:r>
            <a:r>
              <a:rPr lang="es-ES" sz="8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s-ES" sz="800" noProof="0" dirty="0" err="1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</a:t>
            </a:r>
            <a:endParaRPr lang="es-ES" sz="800" noProof="0" dirty="0"/>
          </a:p>
          <a:p>
            <a:pPr>
              <a:lnSpc>
                <a:spcPts val="1000"/>
              </a:lnSpc>
            </a:pPr>
            <a:r>
              <a:rPr lang="es-ES" sz="800" noProof="0" dirty="0" err="1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</a:t>
            </a:r>
            <a:r>
              <a:rPr lang="es-ES" sz="8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remote </a:t>
            </a:r>
            <a:r>
              <a:rPr lang="es-ES" sz="800" noProof="0" dirty="0" err="1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</a:t>
            </a:r>
            <a:r>
              <a:rPr lang="es-ES" sz="8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s-ES" sz="800" noProof="0" dirty="0" err="1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origin</a:t>
            </a:r>
            <a:r>
              <a:rPr lang="es-ES" sz="8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s-ES" sz="80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https://github.com/Jon8a/proyecto-iot</a:t>
            </a:r>
            <a:endParaRPr lang="es-ES" sz="800" noProof="0" dirty="0"/>
          </a:p>
        </p:txBody>
      </p:sp>
      <p:sp>
        <p:nvSpPr>
          <p:cNvPr id="23" name="Text 21"/>
          <p:cNvSpPr/>
          <p:nvPr/>
        </p:nvSpPr>
        <p:spPr>
          <a:xfrm>
            <a:off x="4389120" y="37490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100" noProof="0" dirty="0">
                <a:solidFill>
                  <a:srgbClr val="64748B"/>
                </a:solidFill>
              </a:rPr>
              <a:t>Preparar repositorio para control de versiones</a:t>
            </a:r>
            <a:endParaRPr lang="es-ES" sz="1100" noProof="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3600" b="1" noProof="0" dirty="0">
                <a:solidFill>
                  <a:srgbClr val="1E293B"/>
                </a:solidFill>
              </a:rPr>
              <a:t>Paso 2: </a:t>
            </a:r>
            <a:r>
              <a:rPr lang="es-ES" sz="3600" b="1" noProof="0" dirty="0" err="1">
                <a:solidFill>
                  <a:srgbClr val="1E293B"/>
                </a:solidFill>
              </a:rPr>
              <a:t>docker-compose.yml</a:t>
            </a:r>
            <a:endParaRPr lang="es-ES" sz="3600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" sz="1400" i="1" noProof="0" dirty="0">
                <a:solidFill>
                  <a:srgbClr val="64748B"/>
                </a:solidFill>
              </a:rPr>
              <a:t>Archivo maestro que orquesta los 3 contenedores</a:t>
            </a:r>
            <a:endParaRPr lang="es-ES" sz="1400" noProof="0" dirty="0"/>
          </a:p>
        </p:txBody>
      </p:sp>
      <p:sp>
        <p:nvSpPr>
          <p:cNvPr id="4" name="Shape 2"/>
          <p:cNvSpPr/>
          <p:nvPr/>
        </p:nvSpPr>
        <p:spPr>
          <a:xfrm>
            <a:off x="731520" y="1253836"/>
            <a:ext cx="7830589" cy="3664528"/>
          </a:xfrm>
          <a:prstGeom prst="rect">
            <a:avLst/>
          </a:prstGeom>
          <a:solidFill>
            <a:srgbClr val="1E293B"/>
          </a:solidFill>
          <a:ln w="254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5" name="Text 3"/>
          <p:cNvSpPr/>
          <p:nvPr/>
        </p:nvSpPr>
        <p:spPr>
          <a:xfrm>
            <a:off x="914400" y="1508760"/>
            <a:ext cx="73152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s-ES" sz="900" noProof="0" dirty="0" err="1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version</a:t>
            </a:r>
            <a:r>
              <a:rPr lang="es-ES" sz="9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'3.8'</a:t>
            </a:r>
            <a:endParaRPr lang="es-ES" sz="900" noProof="0" dirty="0"/>
          </a:p>
          <a:p>
            <a:pPr marL="0" indent="0">
              <a:lnSpc>
                <a:spcPts val="1200"/>
              </a:lnSpc>
              <a:buNone/>
            </a:pPr>
            <a:r>
              <a:rPr lang="es-ES" sz="900" noProof="0" dirty="0" err="1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services</a:t>
            </a:r>
            <a:r>
              <a:rPr lang="es-ES" sz="9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s-ES" sz="900" noProof="0" dirty="0"/>
          </a:p>
          <a:p>
            <a:pPr marL="0" indent="0">
              <a:lnSpc>
                <a:spcPts val="1200"/>
              </a:lnSpc>
              <a:buNone/>
            </a:pPr>
            <a:r>
              <a:rPr lang="es-ES" sz="9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s-ES" sz="900" noProof="0" dirty="0" err="1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influxdb</a:t>
            </a:r>
            <a:r>
              <a:rPr lang="es-ES" sz="9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                   # Base de datos</a:t>
            </a:r>
            <a:endParaRPr lang="es-ES" sz="900" noProof="0" dirty="0"/>
          </a:p>
          <a:p>
            <a:pPr marL="0" indent="0">
              <a:lnSpc>
                <a:spcPts val="1200"/>
              </a:lnSpc>
              <a:buNone/>
            </a:pPr>
            <a:r>
              <a:rPr lang="es-ES" sz="9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s-ES" sz="900" noProof="0" dirty="0" err="1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image</a:t>
            </a:r>
            <a:r>
              <a:rPr lang="es-ES" sz="9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influxdb:2.7</a:t>
            </a:r>
            <a:endParaRPr lang="es-ES" sz="900" noProof="0" dirty="0"/>
          </a:p>
          <a:p>
            <a:pPr marL="0" indent="0">
              <a:lnSpc>
                <a:spcPts val="1200"/>
              </a:lnSpc>
              <a:buNone/>
            </a:pPr>
            <a:r>
              <a:rPr lang="es-ES" sz="9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s-ES" sz="900" noProof="0" dirty="0" err="1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ports</a:t>
            </a:r>
            <a:r>
              <a:rPr lang="es-ES" sz="9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['8086:8086']</a:t>
            </a:r>
            <a:endParaRPr lang="es-ES" sz="900" noProof="0" dirty="0"/>
          </a:p>
          <a:p>
            <a:pPr marL="0" indent="0">
              <a:lnSpc>
                <a:spcPts val="1200"/>
              </a:lnSpc>
              <a:buNone/>
            </a:pPr>
            <a:r>
              <a:rPr lang="es-ES" sz="9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s-ES" sz="900" noProof="0" dirty="0" err="1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volumes</a:t>
            </a:r>
            <a:r>
              <a:rPr lang="es-ES" sz="9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s-ES" sz="900" noProof="0" dirty="0"/>
          </a:p>
          <a:p>
            <a:pPr marL="0" indent="0">
              <a:lnSpc>
                <a:spcPts val="1200"/>
              </a:lnSpc>
              <a:buNone/>
            </a:pPr>
            <a:r>
              <a:rPr lang="es-ES" sz="9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</a:t>
            </a:r>
            <a:r>
              <a:rPr lang="es-ES" sz="900" noProof="0" dirty="0" err="1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influxdb_data</a:t>
            </a:r>
            <a:r>
              <a:rPr lang="es-ES" sz="9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:/</a:t>
            </a:r>
            <a:r>
              <a:rPr lang="es-ES" sz="900" noProof="0" dirty="0" err="1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</a:t>
            </a:r>
            <a:r>
              <a:rPr lang="es-ES" sz="9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r>
              <a:rPr lang="es-ES" sz="900" noProof="0" dirty="0" err="1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r>
              <a:rPr lang="es-ES" sz="9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/influxdb2</a:t>
            </a:r>
            <a:endParaRPr lang="es-ES" sz="900" noProof="0" dirty="0"/>
          </a:p>
          <a:p>
            <a:pPr marL="0" indent="0">
              <a:lnSpc>
                <a:spcPts val="1200"/>
              </a:lnSpc>
              <a:buNone/>
            </a:pPr>
            <a:r>
              <a:rPr lang="es-ES" sz="9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s-ES" sz="900" noProof="0" dirty="0" err="1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environment</a:t>
            </a:r>
            <a:r>
              <a:rPr lang="es-ES" sz="9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s-ES" sz="900" noProof="0" dirty="0"/>
          </a:p>
          <a:p>
            <a:pPr marL="0" indent="0">
              <a:lnSpc>
                <a:spcPts val="1200"/>
              </a:lnSpc>
              <a:buNone/>
            </a:pPr>
            <a:r>
              <a:rPr lang="es-ES" sz="9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DOCKER_INFLUXDB_INIT_TOKEN=...</a:t>
            </a:r>
            <a:endParaRPr lang="es-ES" sz="900" noProof="0" dirty="0"/>
          </a:p>
          <a:p>
            <a:pPr marL="0" indent="0">
              <a:lnSpc>
                <a:spcPts val="1200"/>
              </a:lnSpc>
              <a:buNone/>
            </a:pPr>
            <a:endParaRPr lang="es-ES" sz="900" noProof="0" dirty="0"/>
          </a:p>
          <a:p>
            <a:pPr marL="0" indent="0">
              <a:lnSpc>
                <a:spcPts val="1200"/>
              </a:lnSpc>
              <a:buNone/>
            </a:pPr>
            <a:r>
              <a:rPr lang="es-ES" sz="9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sensor:                       # Simulador</a:t>
            </a:r>
            <a:endParaRPr lang="es-ES" sz="900" noProof="0" dirty="0"/>
          </a:p>
          <a:p>
            <a:pPr marL="0" indent="0">
              <a:lnSpc>
                <a:spcPts val="1200"/>
              </a:lnSpc>
              <a:buNone/>
            </a:pPr>
            <a:r>
              <a:rPr lang="es-ES" sz="9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s-ES" sz="900" noProof="0" dirty="0" err="1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</a:t>
            </a:r>
            <a:r>
              <a:rPr lang="es-ES" sz="9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./sensor</a:t>
            </a:r>
            <a:endParaRPr lang="es-ES" sz="900" noProof="0" dirty="0"/>
          </a:p>
          <a:p>
            <a:pPr marL="0" indent="0">
              <a:lnSpc>
                <a:spcPts val="1200"/>
              </a:lnSpc>
              <a:buNone/>
            </a:pPr>
            <a:r>
              <a:rPr lang="es-ES" sz="9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s-ES" sz="900" noProof="0" dirty="0" err="1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depends_on</a:t>
            </a:r>
            <a:r>
              <a:rPr lang="es-ES" sz="9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</a:t>
            </a:r>
            <a:r>
              <a:rPr lang="es-ES" sz="900" noProof="0" dirty="0" err="1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influxdb</a:t>
            </a:r>
            <a:r>
              <a:rPr lang="es-ES" sz="9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s-ES" sz="900" noProof="0" dirty="0"/>
          </a:p>
          <a:p>
            <a:pPr marL="0" indent="0">
              <a:lnSpc>
                <a:spcPts val="1200"/>
              </a:lnSpc>
              <a:buNone/>
            </a:pPr>
            <a:endParaRPr lang="es-ES" sz="900" noProof="0" dirty="0"/>
          </a:p>
          <a:p>
            <a:pPr marL="0" indent="0">
              <a:lnSpc>
                <a:spcPts val="1200"/>
              </a:lnSpc>
              <a:buNone/>
            </a:pPr>
            <a:r>
              <a:rPr lang="es-ES" sz="9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s-ES" sz="900" noProof="0" dirty="0" err="1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grafana</a:t>
            </a:r>
            <a:r>
              <a:rPr lang="es-ES" sz="9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                     # Visualización</a:t>
            </a:r>
            <a:endParaRPr lang="es-ES" sz="900" noProof="0" dirty="0"/>
          </a:p>
          <a:p>
            <a:pPr marL="0" indent="0">
              <a:lnSpc>
                <a:spcPts val="1200"/>
              </a:lnSpc>
              <a:buNone/>
            </a:pPr>
            <a:r>
              <a:rPr lang="es-ES" sz="9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s-ES" sz="900" noProof="0" dirty="0" err="1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image</a:t>
            </a:r>
            <a:r>
              <a:rPr lang="es-ES" sz="9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r>
              <a:rPr lang="es-ES" sz="900" noProof="0" dirty="0" err="1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grafana</a:t>
            </a:r>
            <a:r>
              <a:rPr lang="es-ES" sz="9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r>
              <a:rPr lang="es-ES" sz="900" noProof="0" dirty="0" err="1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grafana:latest</a:t>
            </a:r>
            <a:endParaRPr lang="es-ES" sz="900" noProof="0" dirty="0"/>
          </a:p>
          <a:p>
            <a:pPr marL="0" indent="0">
              <a:lnSpc>
                <a:spcPts val="1200"/>
              </a:lnSpc>
              <a:buNone/>
            </a:pPr>
            <a:r>
              <a:rPr lang="es-ES" sz="9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s-ES" sz="900" noProof="0" dirty="0" err="1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ports</a:t>
            </a:r>
            <a:r>
              <a:rPr lang="es-ES" sz="9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['3000:3000']</a:t>
            </a:r>
            <a:endParaRPr lang="es-ES" sz="900" noProof="0" dirty="0"/>
          </a:p>
          <a:p>
            <a:pPr marL="0" indent="0">
              <a:lnSpc>
                <a:spcPts val="1200"/>
              </a:lnSpc>
              <a:buNone/>
            </a:pPr>
            <a:r>
              <a:rPr lang="es-ES" sz="9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s-ES" sz="900" noProof="0" dirty="0" err="1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volumes</a:t>
            </a:r>
            <a:r>
              <a:rPr lang="es-ES" sz="9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s-ES" sz="900" noProof="0" dirty="0"/>
          </a:p>
          <a:p>
            <a:pPr marL="0" indent="0">
              <a:lnSpc>
                <a:spcPts val="1200"/>
              </a:lnSpc>
              <a:buNone/>
            </a:pPr>
            <a:r>
              <a:rPr lang="es-ES" sz="9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./</a:t>
            </a:r>
            <a:r>
              <a:rPr lang="es-ES" sz="900" noProof="0" dirty="0" err="1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grafana</a:t>
            </a:r>
            <a:r>
              <a:rPr lang="es-ES" sz="9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r>
              <a:rPr lang="es-ES" sz="900" noProof="0" dirty="0" err="1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provisioning</a:t>
            </a:r>
            <a:r>
              <a:rPr lang="es-ES" sz="9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:/</a:t>
            </a:r>
            <a:r>
              <a:rPr lang="es-ES" sz="900" noProof="0" dirty="0" err="1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etc</a:t>
            </a:r>
            <a:r>
              <a:rPr lang="es-ES" sz="9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r>
              <a:rPr lang="es-ES" sz="900" noProof="0" dirty="0" err="1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grafana</a:t>
            </a:r>
            <a:r>
              <a:rPr lang="es-ES" sz="9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r>
              <a:rPr lang="es-ES" sz="900" noProof="0" dirty="0" err="1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provisioning</a:t>
            </a:r>
            <a:endParaRPr lang="es-ES" sz="900" noProof="0" dirty="0"/>
          </a:p>
          <a:p>
            <a:pPr marL="0" indent="0">
              <a:lnSpc>
                <a:spcPts val="1200"/>
              </a:lnSpc>
              <a:buNone/>
            </a:pPr>
            <a:endParaRPr lang="es-ES" sz="900" noProof="0" dirty="0"/>
          </a:p>
          <a:p>
            <a:pPr marL="0" indent="0">
              <a:lnSpc>
                <a:spcPts val="1200"/>
              </a:lnSpc>
              <a:buNone/>
            </a:pPr>
            <a:r>
              <a:rPr lang="es-ES" sz="900" noProof="0" dirty="0" err="1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volumes</a:t>
            </a:r>
            <a:r>
              <a:rPr lang="es-ES" sz="9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s-ES" sz="900" noProof="0" dirty="0"/>
          </a:p>
          <a:p>
            <a:pPr marL="0" indent="0">
              <a:lnSpc>
                <a:spcPts val="1200"/>
              </a:lnSpc>
              <a:buNone/>
            </a:pPr>
            <a:r>
              <a:rPr lang="es-ES" sz="9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s-ES" sz="900" noProof="0" dirty="0" err="1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influxdb_data</a:t>
            </a:r>
            <a:r>
              <a:rPr lang="es-ES" sz="9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               # Persistencia</a:t>
            </a:r>
            <a:endParaRPr lang="es-ES" sz="900" noProof="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3600" b="1" noProof="0" dirty="0">
                <a:solidFill>
                  <a:srgbClr val="1E293B"/>
                </a:solidFill>
              </a:rPr>
              <a:t>Paso 3: Simulador de Sensor</a:t>
            </a:r>
            <a:endParaRPr lang="es-ES" sz="3600" noProof="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36576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4" name="Text 2"/>
          <p:cNvSpPr/>
          <p:nvPr/>
        </p:nvSpPr>
        <p:spPr>
          <a:xfrm>
            <a:off x="914400" y="12344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200" b="1" noProof="0" dirty="0">
                <a:solidFill>
                  <a:srgbClr val="028090"/>
                </a:solidFill>
              </a:rPr>
              <a:t>📄 </a:t>
            </a:r>
            <a:r>
              <a:rPr lang="es-ES" sz="1200" b="1" noProof="0" dirty="0" err="1">
                <a:solidFill>
                  <a:srgbClr val="028090"/>
                </a:solidFill>
              </a:rPr>
              <a:t>Dockerfile</a:t>
            </a:r>
            <a:endParaRPr lang="es-ES" sz="1200" noProof="0" dirty="0"/>
          </a:p>
        </p:txBody>
      </p:sp>
      <p:sp>
        <p:nvSpPr>
          <p:cNvPr id="5" name="Text 3"/>
          <p:cNvSpPr/>
          <p:nvPr/>
        </p:nvSpPr>
        <p:spPr>
          <a:xfrm>
            <a:off x="2834640" y="12344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000" noProof="0" dirty="0">
                <a:solidFill>
                  <a:srgbClr val="64748B"/>
                </a:solidFill>
              </a:rPr>
              <a:t>Define la imagen del contenedor</a:t>
            </a:r>
            <a:endParaRPr lang="es-ES" sz="1000" noProof="0" dirty="0"/>
          </a:p>
        </p:txBody>
      </p:sp>
      <p:sp>
        <p:nvSpPr>
          <p:cNvPr id="6" name="Shape 4"/>
          <p:cNvSpPr/>
          <p:nvPr/>
        </p:nvSpPr>
        <p:spPr>
          <a:xfrm>
            <a:off x="731520" y="1645920"/>
            <a:ext cx="36576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7" name="Text 5"/>
          <p:cNvSpPr/>
          <p:nvPr/>
        </p:nvSpPr>
        <p:spPr>
          <a:xfrm>
            <a:off x="914400" y="16916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200" b="1" noProof="0" dirty="0">
                <a:solidFill>
                  <a:srgbClr val="028090"/>
                </a:solidFill>
              </a:rPr>
              <a:t>📄 requirements.txt</a:t>
            </a:r>
            <a:endParaRPr lang="es-ES" sz="1200" noProof="0" dirty="0"/>
          </a:p>
        </p:txBody>
      </p:sp>
      <p:sp>
        <p:nvSpPr>
          <p:cNvPr id="8" name="Text 6"/>
          <p:cNvSpPr/>
          <p:nvPr/>
        </p:nvSpPr>
        <p:spPr>
          <a:xfrm>
            <a:off x="2834640" y="16916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000" noProof="0" dirty="0">
                <a:solidFill>
                  <a:srgbClr val="64748B"/>
                </a:solidFill>
              </a:rPr>
              <a:t>Dependencias Python</a:t>
            </a:r>
            <a:endParaRPr lang="es-ES" sz="1000" noProof="0" dirty="0"/>
          </a:p>
        </p:txBody>
      </p:sp>
      <p:sp>
        <p:nvSpPr>
          <p:cNvPr id="9" name="Shape 7"/>
          <p:cNvSpPr/>
          <p:nvPr/>
        </p:nvSpPr>
        <p:spPr>
          <a:xfrm>
            <a:off x="731520" y="2103120"/>
            <a:ext cx="36576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10" name="Text 8"/>
          <p:cNvSpPr/>
          <p:nvPr/>
        </p:nvSpPr>
        <p:spPr>
          <a:xfrm>
            <a:off x="914400" y="21488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200" b="1" noProof="0" dirty="0">
                <a:solidFill>
                  <a:srgbClr val="028090"/>
                </a:solidFill>
              </a:rPr>
              <a:t>📄 sensor_simulator.py</a:t>
            </a:r>
            <a:endParaRPr lang="es-ES" sz="1200" noProof="0" dirty="0"/>
          </a:p>
        </p:txBody>
      </p:sp>
      <p:sp>
        <p:nvSpPr>
          <p:cNvPr id="11" name="Text 9"/>
          <p:cNvSpPr/>
          <p:nvPr/>
        </p:nvSpPr>
        <p:spPr>
          <a:xfrm>
            <a:off x="2834640" y="21488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000" noProof="0" dirty="0">
                <a:solidFill>
                  <a:srgbClr val="64748B"/>
                </a:solidFill>
              </a:rPr>
              <a:t>Código del simulador</a:t>
            </a:r>
            <a:endParaRPr lang="es-ES" sz="1000" noProof="0" dirty="0"/>
          </a:p>
        </p:txBody>
      </p:sp>
      <p:sp>
        <p:nvSpPr>
          <p:cNvPr id="12" name="Text 10"/>
          <p:cNvSpPr/>
          <p:nvPr/>
        </p:nvSpPr>
        <p:spPr>
          <a:xfrm>
            <a:off x="731520" y="265176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400" b="1" noProof="0" dirty="0">
                <a:solidFill>
                  <a:srgbClr val="1E293B"/>
                </a:solidFill>
              </a:rPr>
              <a:t>sensor_simulator.py (simplificado):</a:t>
            </a:r>
            <a:endParaRPr lang="es-ES" sz="1400" noProof="0" dirty="0"/>
          </a:p>
        </p:txBody>
      </p:sp>
      <p:sp>
        <p:nvSpPr>
          <p:cNvPr id="13" name="Shape 11"/>
          <p:cNvSpPr/>
          <p:nvPr/>
        </p:nvSpPr>
        <p:spPr>
          <a:xfrm>
            <a:off x="731520" y="3017520"/>
            <a:ext cx="7680960" cy="164592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4" name="Text 12"/>
          <p:cNvSpPr/>
          <p:nvPr/>
        </p:nvSpPr>
        <p:spPr>
          <a:xfrm>
            <a:off x="914400" y="3154680"/>
            <a:ext cx="7315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s-ES" sz="1000" noProof="0" dirty="0" err="1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s-ES" sz="10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s-ES" sz="1000" noProof="0" dirty="0" err="1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influxdb_client</a:t>
            </a:r>
            <a:r>
              <a:rPr lang="es-ES" sz="10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s-ES" sz="1000" noProof="0" dirty="0" err="1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r>
              <a:rPr lang="es-ES" sz="10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s-ES" sz="1000" noProof="0" dirty="0" err="1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InfluxDBClient</a:t>
            </a:r>
            <a:r>
              <a:rPr lang="es-ES" sz="10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Point</a:t>
            </a:r>
            <a:endParaRPr lang="es-ES" sz="1000" noProof="0" dirty="0"/>
          </a:p>
          <a:p>
            <a:pPr marL="0" indent="0">
              <a:lnSpc>
                <a:spcPts val="1200"/>
              </a:lnSpc>
              <a:buNone/>
            </a:pPr>
            <a:r>
              <a:rPr lang="es-ES" sz="1000" noProof="0" dirty="0" err="1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r>
              <a:rPr lang="es-ES" sz="10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time, </a:t>
            </a:r>
            <a:r>
              <a:rPr lang="es-ES" sz="1000" noProof="0" dirty="0" err="1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random</a:t>
            </a:r>
            <a:endParaRPr lang="es-ES" sz="1000" noProof="0" dirty="0"/>
          </a:p>
          <a:p>
            <a:pPr marL="0" indent="0">
              <a:lnSpc>
                <a:spcPts val="1200"/>
              </a:lnSpc>
              <a:buNone/>
            </a:pPr>
            <a:endParaRPr lang="es-ES" sz="1000" noProof="0" dirty="0"/>
          </a:p>
          <a:p>
            <a:pPr marL="0" indent="0">
              <a:lnSpc>
                <a:spcPts val="1200"/>
              </a:lnSpc>
              <a:buNone/>
            </a:pPr>
            <a:r>
              <a:rPr lang="es-ES" sz="1000" noProof="0" dirty="0" err="1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r>
              <a:rPr lang="es-ES" sz="10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es-ES" sz="1000" noProof="0" dirty="0" err="1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InfluxDBClient</a:t>
            </a:r>
            <a:r>
              <a:rPr lang="es-ES" sz="10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s-ES" sz="1000" noProof="0" dirty="0" err="1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r>
              <a:rPr lang="es-ES" sz="10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='http://influxdb:8086', ...)</a:t>
            </a:r>
            <a:endParaRPr lang="es-ES" sz="1000" noProof="0" dirty="0"/>
          </a:p>
          <a:p>
            <a:pPr marL="0" indent="0">
              <a:lnSpc>
                <a:spcPts val="1200"/>
              </a:lnSpc>
              <a:buNone/>
            </a:pPr>
            <a:endParaRPr lang="es-ES" sz="1000" noProof="0" dirty="0"/>
          </a:p>
          <a:p>
            <a:pPr marL="0" indent="0">
              <a:lnSpc>
                <a:spcPts val="1200"/>
              </a:lnSpc>
              <a:buNone/>
            </a:pPr>
            <a:r>
              <a:rPr lang="es-ES" sz="1000" noProof="0" dirty="0" err="1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</a:t>
            </a:r>
            <a:r>
              <a:rPr lang="es-ES" sz="10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True:</a:t>
            </a:r>
            <a:endParaRPr lang="es-ES" sz="1000" noProof="0" dirty="0"/>
          </a:p>
          <a:p>
            <a:pPr marL="0" indent="0">
              <a:lnSpc>
                <a:spcPts val="1200"/>
              </a:lnSpc>
              <a:buNone/>
            </a:pPr>
            <a:r>
              <a:rPr lang="es-ES" sz="10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temperatura = </a:t>
            </a:r>
            <a:r>
              <a:rPr lang="es-ES" sz="1000" noProof="0" dirty="0" err="1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random.uniform</a:t>
            </a:r>
            <a:r>
              <a:rPr lang="es-ES" sz="10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(18, 30)</a:t>
            </a:r>
            <a:endParaRPr lang="es-ES" sz="1000" noProof="0" dirty="0"/>
          </a:p>
          <a:p>
            <a:pPr marL="0" indent="0">
              <a:lnSpc>
                <a:spcPts val="1200"/>
              </a:lnSpc>
              <a:buNone/>
            </a:pPr>
            <a:r>
              <a:rPr lang="es-ES" sz="10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s-ES" sz="1000" noProof="0" dirty="0" err="1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point</a:t>
            </a:r>
            <a:r>
              <a:rPr lang="es-ES" sz="10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Point('mediciones').</a:t>
            </a:r>
            <a:r>
              <a:rPr lang="es-ES" sz="1000" noProof="0" dirty="0" err="1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r>
              <a:rPr lang="es-ES" sz="10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('temperatura', </a:t>
            </a:r>
            <a:r>
              <a:rPr lang="es-ES" sz="1000" noProof="0" dirty="0" err="1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</a:t>
            </a:r>
            <a:r>
              <a:rPr lang="es-ES" sz="10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s-ES" sz="1000" noProof="0" dirty="0"/>
          </a:p>
          <a:p>
            <a:pPr marL="0" indent="0">
              <a:lnSpc>
                <a:spcPts val="1200"/>
              </a:lnSpc>
              <a:buNone/>
            </a:pPr>
            <a:r>
              <a:rPr lang="es-ES" sz="10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s-ES" sz="1000" noProof="0" dirty="0" err="1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write_api.write</a:t>
            </a:r>
            <a:r>
              <a:rPr lang="es-ES" sz="10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s-ES" sz="1000" noProof="0" dirty="0" err="1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bucket</a:t>
            </a:r>
            <a:r>
              <a:rPr lang="es-ES" sz="10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='sensores', </a:t>
            </a:r>
            <a:r>
              <a:rPr lang="es-ES" sz="1000" noProof="0" dirty="0" err="1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</a:t>
            </a:r>
            <a:r>
              <a:rPr lang="es-ES" sz="10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s-ES" sz="1000" noProof="0" dirty="0" err="1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point</a:t>
            </a:r>
            <a:r>
              <a:rPr lang="es-ES" sz="10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s-ES" sz="1000" noProof="0" dirty="0"/>
          </a:p>
          <a:p>
            <a:pPr marL="0" indent="0">
              <a:lnSpc>
                <a:spcPts val="1200"/>
              </a:lnSpc>
              <a:buNone/>
            </a:pPr>
            <a:r>
              <a:rPr lang="es-ES" sz="10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s-ES" sz="1000" noProof="0" dirty="0" err="1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time.sleep</a:t>
            </a:r>
            <a:r>
              <a:rPr lang="es-ES" sz="10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(5)  # Esperar 5 segundos</a:t>
            </a:r>
            <a:endParaRPr lang="es-ES" sz="1000" noProof="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3600" b="1" noProof="0" dirty="0">
                <a:solidFill>
                  <a:srgbClr val="1E293B"/>
                </a:solidFill>
              </a:rPr>
              <a:t>Paso 4: Arrancar el Sistema</a:t>
            </a:r>
            <a:endParaRPr lang="es-ES" sz="3600" noProof="0" dirty="0"/>
          </a:p>
        </p:txBody>
      </p:sp>
      <p:sp>
        <p:nvSpPr>
          <p:cNvPr id="3" name="Shape 1"/>
          <p:cNvSpPr/>
          <p:nvPr/>
        </p:nvSpPr>
        <p:spPr>
          <a:xfrm>
            <a:off x="1371600" y="1188720"/>
            <a:ext cx="6400800" cy="64008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4" name="Text 2"/>
          <p:cNvSpPr/>
          <p:nvPr/>
        </p:nvSpPr>
        <p:spPr>
          <a:xfrm>
            <a:off x="1371600" y="128016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" sz="2800" b="1" noProof="0" dirty="0" err="1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</a:t>
            </a:r>
            <a:r>
              <a:rPr lang="es-ES" sz="2800" b="1" noProof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s-ES" sz="2800" b="1" noProof="0" dirty="0" err="1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compose</a:t>
            </a:r>
            <a:r>
              <a:rPr lang="es-ES" sz="2800" b="1" noProof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up --</a:t>
            </a:r>
            <a:r>
              <a:rPr lang="es-ES" sz="2800" b="1" noProof="0" dirty="0" err="1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</a:t>
            </a:r>
            <a:endParaRPr lang="es-ES" sz="2800" noProof="0" dirty="0"/>
          </a:p>
        </p:txBody>
      </p:sp>
      <p:sp>
        <p:nvSpPr>
          <p:cNvPr id="5" name="Text 3"/>
          <p:cNvSpPr/>
          <p:nvPr/>
        </p:nvSpPr>
        <p:spPr>
          <a:xfrm>
            <a:off x="731520" y="210312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600" b="1" noProof="0" dirty="0">
                <a:solidFill>
                  <a:srgbClr val="1E293B"/>
                </a:solidFill>
              </a:rPr>
              <a:t>Este comando:</a:t>
            </a:r>
            <a:endParaRPr lang="es-ES" sz="1600" noProof="0" dirty="0"/>
          </a:p>
        </p:txBody>
      </p:sp>
      <p:sp>
        <p:nvSpPr>
          <p:cNvPr id="6" name="Text 4"/>
          <p:cNvSpPr/>
          <p:nvPr/>
        </p:nvSpPr>
        <p:spPr>
          <a:xfrm>
            <a:off x="1097280" y="2468880"/>
            <a:ext cx="69494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s-ES" sz="1300" noProof="0" dirty="0">
                <a:solidFill>
                  <a:srgbClr val="1E293B"/>
                </a:solidFill>
              </a:rPr>
              <a:t>1. Construye la imagen del sensor desde el </a:t>
            </a:r>
            <a:r>
              <a:rPr lang="es-ES" sz="1300" noProof="0" dirty="0" err="1">
                <a:solidFill>
                  <a:srgbClr val="1E293B"/>
                </a:solidFill>
              </a:rPr>
              <a:t>Dockerfile</a:t>
            </a:r>
            <a:endParaRPr lang="es-ES" sz="1300" noProof="0" dirty="0"/>
          </a:p>
          <a:p>
            <a:pPr marL="0" indent="0">
              <a:lnSpc>
                <a:spcPts val="1800"/>
              </a:lnSpc>
              <a:buNone/>
            </a:pPr>
            <a:r>
              <a:rPr lang="es-ES" sz="1300" noProof="0" dirty="0">
                <a:solidFill>
                  <a:srgbClr val="1E293B"/>
                </a:solidFill>
              </a:rPr>
              <a:t>2. Descarga las imágenes de </a:t>
            </a:r>
            <a:r>
              <a:rPr lang="es-ES" sz="1300" noProof="0" dirty="0" err="1">
                <a:solidFill>
                  <a:srgbClr val="1E293B"/>
                </a:solidFill>
              </a:rPr>
              <a:t>InfluxDB</a:t>
            </a:r>
            <a:r>
              <a:rPr lang="es-ES" sz="1300" noProof="0" dirty="0">
                <a:solidFill>
                  <a:srgbClr val="1E293B"/>
                </a:solidFill>
              </a:rPr>
              <a:t> y </a:t>
            </a:r>
            <a:r>
              <a:rPr lang="es-ES" sz="1300" noProof="0" dirty="0" err="1">
                <a:solidFill>
                  <a:srgbClr val="1E293B"/>
                </a:solidFill>
              </a:rPr>
              <a:t>Grafana</a:t>
            </a:r>
            <a:endParaRPr lang="es-ES" sz="1300" noProof="0" dirty="0"/>
          </a:p>
          <a:p>
            <a:pPr marL="0" indent="0">
              <a:lnSpc>
                <a:spcPts val="1800"/>
              </a:lnSpc>
              <a:buNone/>
            </a:pPr>
            <a:r>
              <a:rPr lang="es-ES" sz="1300" noProof="0" dirty="0">
                <a:solidFill>
                  <a:srgbClr val="1E293B"/>
                </a:solidFill>
              </a:rPr>
              <a:t>3. Crea la red virtual '</a:t>
            </a:r>
            <a:r>
              <a:rPr lang="es-ES" sz="1300" noProof="0" dirty="0" err="1">
                <a:solidFill>
                  <a:srgbClr val="1E293B"/>
                </a:solidFill>
              </a:rPr>
              <a:t>iot_network</a:t>
            </a:r>
            <a:r>
              <a:rPr lang="es-ES" sz="1300" noProof="0" dirty="0">
                <a:solidFill>
                  <a:srgbClr val="1E293B"/>
                </a:solidFill>
              </a:rPr>
              <a:t>'</a:t>
            </a:r>
            <a:endParaRPr lang="es-ES" sz="1300" noProof="0" dirty="0"/>
          </a:p>
          <a:p>
            <a:pPr marL="0" indent="0">
              <a:lnSpc>
                <a:spcPts val="1800"/>
              </a:lnSpc>
              <a:buNone/>
            </a:pPr>
            <a:r>
              <a:rPr lang="es-ES" sz="1300" noProof="0" dirty="0">
                <a:solidFill>
                  <a:srgbClr val="1E293B"/>
                </a:solidFill>
              </a:rPr>
              <a:t>4. Crea los volúmenes para persistencia</a:t>
            </a:r>
            <a:endParaRPr lang="es-ES" sz="1300" noProof="0" dirty="0"/>
          </a:p>
          <a:p>
            <a:pPr marL="0" indent="0">
              <a:lnSpc>
                <a:spcPts val="1800"/>
              </a:lnSpc>
              <a:buNone/>
            </a:pPr>
            <a:r>
              <a:rPr lang="es-ES" sz="1300" noProof="0" dirty="0">
                <a:solidFill>
                  <a:srgbClr val="1E293B"/>
                </a:solidFill>
              </a:rPr>
              <a:t>5. Arranca los 3 contenedores en orden (</a:t>
            </a:r>
            <a:r>
              <a:rPr lang="es-ES" sz="1300" noProof="0" dirty="0" err="1">
                <a:solidFill>
                  <a:srgbClr val="1E293B"/>
                </a:solidFill>
              </a:rPr>
              <a:t>depends_on</a:t>
            </a:r>
            <a:r>
              <a:rPr lang="es-ES" sz="1300" noProof="0" dirty="0">
                <a:solidFill>
                  <a:srgbClr val="1E293B"/>
                </a:solidFill>
              </a:rPr>
              <a:t>)</a:t>
            </a:r>
            <a:endParaRPr lang="es-ES" sz="1300" noProof="0" dirty="0"/>
          </a:p>
          <a:p>
            <a:pPr marL="0" indent="0">
              <a:lnSpc>
                <a:spcPts val="1800"/>
              </a:lnSpc>
              <a:buNone/>
            </a:pPr>
            <a:r>
              <a:rPr lang="es-ES" sz="1300" noProof="0" dirty="0">
                <a:solidFill>
                  <a:srgbClr val="1E293B"/>
                </a:solidFill>
              </a:rPr>
              <a:t>6. Muestra los logs en tiempo real</a:t>
            </a:r>
            <a:endParaRPr lang="es-ES" sz="1300" noProof="0" dirty="0"/>
          </a:p>
        </p:txBody>
      </p:sp>
      <p:sp>
        <p:nvSpPr>
          <p:cNvPr id="7" name="Text 5"/>
          <p:cNvSpPr/>
          <p:nvPr/>
        </p:nvSpPr>
        <p:spPr>
          <a:xfrm>
            <a:off x="731520" y="420624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400" b="1" noProof="0" dirty="0">
                <a:solidFill>
                  <a:srgbClr val="10B981"/>
                </a:solidFill>
              </a:rPr>
              <a:t>✅ Output esperado:</a:t>
            </a:r>
            <a:endParaRPr lang="es-ES" sz="1400" noProof="0" dirty="0"/>
          </a:p>
        </p:txBody>
      </p:sp>
      <p:sp>
        <p:nvSpPr>
          <p:cNvPr id="8" name="Shape 6"/>
          <p:cNvSpPr/>
          <p:nvPr/>
        </p:nvSpPr>
        <p:spPr>
          <a:xfrm>
            <a:off x="731520" y="4526280"/>
            <a:ext cx="7680960" cy="45720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9" name="Text 7"/>
          <p:cNvSpPr/>
          <p:nvPr/>
        </p:nvSpPr>
        <p:spPr>
          <a:xfrm>
            <a:off x="914400" y="46177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000" noProof="0" dirty="0" err="1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sensor_simulator</a:t>
            </a:r>
            <a:r>
              <a:rPr lang="es-ES" sz="1000" noProof="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| 📊 [14:30:05] Medición #1 | 🌡️ 24.3°C | ✅ Enviado</a:t>
            </a:r>
            <a:endParaRPr lang="es-ES" sz="1000" noProof="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3600" b="1" noProof="0" dirty="0">
                <a:solidFill>
                  <a:srgbClr val="1E293B"/>
                </a:solidFill>
              </a:rPr>
              <a:t>Paso 5: Configurar </a:t>
            </a:r>
            <a:r>
              <a:rPr lang="es-ES" sz="3600" b="1" noProof="0" dirty="0" err="1">
                <a:solidFill>
                  <a:srgbClr val="1E293B"/>
                </a:solidFill>
              </a:rPr>
              <a:t>Grafana</a:t>
            </a:r>
            <a:endParaRPr lang="es-ES" sz="3600" noProof="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76809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4" name="Shape 2"/>
          <p:cNvSpPr/>
          <p:nvPr/>
        </p:nvSpPr>
        <p:spPr>
          <a:xfrm>
            <a:off x="914400" y="1261872"/>
            <a:ext cx="457200" cy="36576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5" name="Text 3"/>
          <p:cNvSpPr/>
          <p:nvPr/>
        </p:nvSpPr>
        <p:spPr>
          <a:xfrm>
            <a:off x="914400" y="1261872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" sz="1200" b="1" noProof="0" dirty="0">
                <a:solidFill>
                  <a:srgbClr val="FFFFFF"/>
                </a:solidFill>
              </a:rPr>
              <a:t>5.1</a:t>
            </a:r>
            <a:endParaRPr lang="es-ES" sz="1200" noProof="0" dirty="0"/>
          </a:p>
        </p:txBody>
      </p:sp>
      <p:sp>
        <p:nvSpPr>
          <p:cNvPr id="6" name="Text 4"/>
          <p:cNvSpPr/>
          <p:nvPr/>
        </p:nvSpPr>
        <p:spPr>
          <a:xfrm>
            <a:off x="1554480" y="126187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300" b="1" noProof="0" dirty="0">
                <a:solidFill>
                  <a:srgbClr val="1E293B"/>
                </a:solidFill>
              </a:rPr>
              <a:t>Acceder</a:t>
            </a:r>
            <a:endParaRPr lang="es-ES" sz="1300" noProof="0" dirty="0"/>
          </a:p>
        </p:txBody>
      </p:sp>
      <p:sp>
        <p:nvSpPr>
          <p:cNvPr id="7" name="Text 5"/>
          <p:cNvSpPr/>
          <p:nvPr/>
        </p:nvSpPr>
        <p:spPr>
          <a:xfrm>
            <a:off x="1554480" y="1463040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100" i="1" noProof="0" dirty="0">
                <a:solidFill>
                  <a:srgbClr val="64748B"/>
                </a:solidFill>
              </a:rPr>
              <a:t>http://localhost:3000</a:t>
            </a:r>
            <a:endParaRPr lang="es-ES" sz="1100" noProof="0" dirty="0"/>
          </a:p>
        </p:txBody>
      </p:sp>
      <p:sp>
        <p:nvSpPr>
          <p:cNvPr id="8" name="Text 6"/>
          <p:cNvSpPr/>
          <p:nvPr/>
        </p:nvSpPr>
        <p:spPr>
          <a:xfrm>
            <a:off x="4572000" y="13258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000" noProof="0" dirty="0" err="1">
                <a:solidFill>
                  <a:srgbClr val="028090"/>
                </a:solidFill>
              </a:rPr>
              <a:t>admin</a:t>
            </a:r>
            <a:r>
              <a:rPr lang="es-ES" sz="1000" noProof="0" dirty="0">
                <a:solidFill>
                  <a:srgbClr val="028090"/>
                </a:solidFill>
              </a:rPr>
              <a:t> / </a:t>
            </a:r>
            <a:r>
              <a:rPr lang="es-ES" sz="1000" noProof="0" dirty="0" err="1">
                <a:solidFill>
                  <a:srgbClr val="028090"/>
                </a:solidFill>
              </a:rPr>
              <a:t>admin</a:t>
            </a:r>
            <a:endParaRPr lang="es-ES" sz="1000" noProof="0" dirty="0"/>
          </a:p>
        </p:txBody>
      </p:sp>
      <p:sp>
        <p:nvSpPr>
          <p:cNvPr id="9" name="Shape 7"/>
          <p:cNvSpPr/>
          <p:nvPr/>
        </p:nvSpPr>
        <p:spPr>
          <a:xfrm>
            <a:off x="731520" y="1874520"/>
            <a:ext cx="76809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10" name="Shape 8"/>
          <p:cNvSpPr/>
          <p:nvPr/>
        </p:nvSpPr>
        <p:spPr>
          <a:xfrm>
            <a:off x="914400" y="1947672"/>
            <a:ext cx="457200" cy="36576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1" name="Text 9"/>
          <p:cNvSpPr/>
          <p:nvPr/>
        </p:nvSpPr>
        <p:spPr>
          <a:xfrm>
            <a:off x="914400" y="1947672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" sz="1200" b="1" noProof="0" dirty="0">
                <a:solidFill>
                  <a:srgbClr val="FFFFFF"/>
                </a:solidFill>
              </a:rPr>
              <a:t>5.2</a:t>
            </a:r>
            <a:endParaRPr lang="es-ES" sz="1200" noProof="0" dirty="0"/>
          </a:p>
        </p:txBody>
      </p:sp>
      <p:sp>
        <p:nvSpPr>
          <p:cNvPr id="12" name="Text 10"/>
          <p:cNvSpPr/>
          <p:nvPr/>
        </p:nvSpPr>
        <p:spPr>
          <a:xfrm>
            <a:off x="1554480" y="194767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300" b="1" noProof="0" dirty="0">
                <a:solidFill>
                  <a:srgbClr val="1E293B"/>
                </a:solidFill>
              </a:rPr>
              <a:t>Añadir Data </a:t>
            </a:r>
            <a:r>
              <a:rPr lang="es-ES" sz="1300" b="1" noProof="0" dirty="0" err="1">
                <a:solidFill>
                  <a:srgbClr val="1E293B"/>
                </a:solidFill>
              </a:rPr>
              <a:t>Source</a:t>
            </a:r>
            <a:endParaRPr lang="es-ES" sz="1300" noProof="0" dirty="0"/>
          </a:p>
        </p:txBody>
      </p:sp>
      <p:sp>
        <p:nvSpPr>
          <p:cNvPr id="13" name="Text 11"/>
          <p:cNvSpPr/>
          <p:nvPr/>
        </p:nvSpPr>
        <p:spPr>
          <a:xfrm>
            <a:off x="1554480" y="2148840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100" i="1" noProof="0" dirty="0" err="1">
                <a:solidFill>
                  <a:srgbClr val="64748B"/>
                </a:solidFill>
              </a:rPr>
              <a:t>InfluxDB</a:t>
            </a:r>
            <a:r>
              <a:rPr lang="es-ES" sz="1100" i="1" noProof="0" dirty="0">
                <a:solidFill>
                  <a:srgbClr val="64748B"/>
                </a:solidFill>
              </a:rPr>
              <a:t> → Flux</a:t>
            </a:r>
            <a:endParaRPr lang="es-ES" sz="1100" noProof="0" dirty="0"/>
          </a:p>
        </p:txBody>
      </p:sp>
      <p:sp>
        <p:nvSpPr>
          <p:cNvPr id="14" name="Text 12"/>
          <p:cNvSpPr/>
          <p:nvPr/>
        </p:nvSpPr>
        <p:spPr>
          <a:xfrm>
            <a:off x="4572000" y="20116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000" noProof="0" dirty="0">
                <a:solidFill>
                  <a:srgbClr val="028090"/>
                </a:solidFill>
              </a:rPr>
              <a:t>URL: http://influxdb:8086</a:t>
            </a:r>
            <a:endParaRPr lang="es-ES" sz="1000" noProof="0" dirty="0"/>
          </a:p>
        </p:txBody>
      </p:sp>
      <p:sp>
        <p:nvSpPr>
          <p:cNvPr id="15" name="Shape 13"/>
          <p:cNvSpPr/>
          <p:nvPr/>
        </p:nvSpPr>
        <p:spPr>
          <a:xfrm>
            <a:off x="731520" y="2560320"/>
            <a:ext cx="76809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16" name="Shape 14"/>
          <p:cNvSpPr/>
          <p:nvPr/>
        </p:nvSpPr>
        <p:spPr>
          <a:xfrm>
            <a:off x="914400" y="2633472"/>
            <a:ext cx="457200" cy="36576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7" name="Text 15"/>
          <p:cNvSpPr/>
          <p:nvPr/>
        </p:nvSpPr>
        <p:spPr>
          <a:xfrm>
            <a:off x="914400" y="2633472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" sz="1200" b="1" noProof="0" dirty="0">
                <a:solidFill>
                  <a:srgbClr val="FFFFFF"/>
                </a:solidFill>
              </a:rPr>
              <a:t>5.3</a:t>
            </a:r>
            <a:endParaRPr lang="es-ES" sz="1200" noProof="0" dirty="0"/>
          </a:p>
        </p:txBody>
      </p:sp>
      <p:sp>
        <p:nvSpPr>
          <p:cNvPr id="18" name="Text 16"/>
          <p:cNvSpPr/>
          <p:nvPr/>
        </p:nvSpPr>
        <p:spPr>
          <a:xfrm>
            <a:off x="1554480" y="263347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300" b="1" noProof="0" dirty="0">
                <a:solidFill>
                  <a:srgbClr val="1E293B"/>
                </a:solidFill>
              </a:rPr>
              <a:t>Configurar conexión</a:t>
            </a:r>
            <a:endParaRPr lang="es-ES" sz="1300" noProof="0" dirty="0"/>
          </a:p>
        </p:txBody>
      </p:sp>
      <p:sp>
        <p:nvSpPr>
          <p:cNvPr id="19" name="Text 17"/>
          <p:cNvSpPr/>
          <p:nvPr/>
        </p:nvSpPr>
        <p:spPr>
          <a:xfrm>
            <a:off x="1554480" y="2834640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100" i="1" noProof="0" dirty="0" err="1">
                <a:solidFill>
                  <a:srgbClr val="64748B"/>
                </a:solidFill>
              </a:rPr>
              <a:t>Organization</a:t>
            </a:r>
            <a:r>
              <a:rPr lang="es-ES" sz="1100" i="1" noProof="0" dirty="0">
                <a:solidFill>
                  <a:srgbClr val="64748B"/>
                </a:solidFill>
              </a:rPr>
              <a:t>: </a:t>
            </a:r>
            <a:r>
              <a:rPr lang="es-ES" sz="1100" i="1" noProof="0" dirty="0" err="1">
                <a:solidFill>
                  <a:srgbClr val="64748B"/>
                </a:solidFill>
              </a:rPr>
              <a:t>mi_empresa</a:t>
            </a:r>
            <a:endParaRPr lang="es-ES" sz="1100" noProof="0" dirty="0"/>
          </a:p>
        </p:txBody>
      </p:sp>
      <p:sp>
        <p:nvSpPr>
          <p:cNvPr id="20" name="Text 18"/>
          <p:cNvSpPr/>
          <p:nvPr/>
        </p:nvSpPr>
        <p:spPr>
          <a:xfrm>
            <a:off x="4572000" y="26974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000" noProof="0" dirty="0">
                <a:solidFill>
                  <a:srgbClr val="028090"/>
                </a:solidFill>
              </a:rPr>
              <a:t>Token + </a:t>
            </a:r>
            <a:r>
              <a:rPr lang="es-ES" sz="1000" noProof="0" dirty="0" err="1">
                <a:solidFill>
                  <a:srgbClr val="028090"/>
                </a:solidFill>
              </a:rPr>
              <a:t>Bucket</a:t>
            </a:r>
            <a:endParaRPr lang="es-ES" sz="1000" noProof="0" dirty="0"/>
          </a:p>
        </p:txBody>
      </p:sp>
      <p:sp>
        <p:nvSpPr>
          <p:cNvPr id="21" name="Shape 19"/>
          <p:cNvSpPr/>
          <p:nvPr/>
        </p:nvSpPr>
        <p:spPr>
          <a:xfrm>
            <a:off x="731520" y="3246120"/>
            <a:ext cx="76809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22" name="Shape 20"/>
          <p:cNvSpPr/>
          <p:nvPr/>
        </p:nvSpPr>
        <p:spPr>
          <a:xfrm>
            <a:off x="914400" y="3319272"/>
            <a:ext cx="457200" cy="36576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23" name="Text 21"/>
          <p:cNvSpPr/>
          <p:nvPr/>
        </p:nvSpPr>
        <p:spPr>
          <a:xfrm>
            <a:off x="914400" y="3319272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" sz="1200" b="1" noProof="0" dirty="0">
                <a:solidFill>
                  <a:srgbClr val="FFFFFF"/>
                </a:solidFill>
              </a:rPr>
              <a:t>5.4</a:t>
            </a:r>
            <a:endParaRPr lang="es-ES" sz="1200" noProof="0" dirty="0"/>
          </a:p>
        </p:txBody>
      </p:sp>
      <p:sp>
        <p:nvSpPr>
          <p:cNvPr id="24" name="Text 22"/>
          <p:cNvSpPr/>
          <p:nvPr/>
        </p:nvSpPr>
        <p:spPr>
          <a:xfrm>
            <a:off x="1554480" y="331927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300" b="1" noProof="0" dirty="0">
                <a:solidFill>
                  <a:srgbClr val="1E293B"/>
                </a:solidFill>
              </a:rPr>
              <a:t>Crear </a:t>
            </a:r>
            <a:r>
              <a:rPr lang="es-ES" sz="1300" b="1" noProof="0" dirty="0" err="1">
                <a:solidFill>
                  <a:srgbClr val="1E293B"/>
                </a:solidFill>
              </a:rPr>
              <a:t>Dashboard</a:t>
            </a:r>
            <a:endParaRPr lang="es-ES" sz="1300" noProof="0" dirty="0"/>
          </a:p>
        </p:txBody>
      </p:sp>
      <p:sp>
        <p:nvSpPr>
          <p:cNvPr id="25" name="Text 23"/>
          <p:cNvSpPr/>
          <p:nvPr/>
        </p:nvSpPr>
        <p:spPr>
          <a:xfrm>
            <a:off x="1554480" y="3520440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100" i="1" noProof="0" dirty="0" err="1">
                <a:solidFill>
                  <a:srgbClr val="64748B"/>
                </a:solidFill>
              </a:rPr>
              <a:t>Add</a:t>
            </a:r>
            <a:r>
              <a:rPr lang="es-ES" sz="1100" i="1" noProof="0" dirty="0">
                <a:solidFill>
                  <a:srgbClr val="64748B"/>
                </a:solidFill>
              </a:rPr>
              <a:t> </a:t>
            </a:r>
            <a:r>
              <a:rPr lang="es-ES" sz="1100" i="1" noProof="0" dirty="0" err="1">
                <a:solidFill>
                  <a:srgbClr val="64748B"/>
                </a:solidFill>
              </a:rPr>
              <a:t>visualization</a:t>
            </a:r>
            <a:endParaRPr lang="es-ES" sz="1100" noProof="0" dirty="0"/>
          </a:p>
        </p:txBody>
      </p:sp>
      <p:sp>
        <p:nvSpPr>
          <p:cNvPr id="26" name="Text 24"/>
          <p:cNvSpPr/>
          <p:nvPr/>
        </p:nvSpPr>
        <p:spPr>
          <a:xfrm>
            <a:off x="4572000" y="33832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000" noProof="0" dirty="0">
                <a:solidFill>
                  <a:srgbClr val="028090"/>
                </a:solidFill>
              </a:rPr>
              <a:t>3 paneles: </a:t>
            </a:r>
            <a:r>
              <a:rPr lang="es-ES" sz="1000" noProof="0" dirty="0" err="1">
                <a:solidFill>
                  <a:srgbClr val="028090"/>
                </a:solidFill>
              </a:rPr>
              <a:t>Temp</a:t>
            </a:r>
            <a:r>
              <a:rPr lang="es-ES" sz="1000" noProof="0" dirty="0">
                <a:solidFill>
                  <a:srgbClr val="028090"/>
                </a:solidFill>
              </a:rPr>
              <a:t>, Humedad, Presión</a:t>
            </a:r>
            <a:endParaRPr lang="es-ES" sz="1000" noProof="0" dirty="0"/>
          </a:p>
        </p:txBody>
      </p:sp>
      <p:sp>
        <p:nvSpPr>
          <p:cNvPr id="27" name="Shape 25"/>
          <p:cNvSpPr/>
          <p:nvPr/>
        </p:nvSpPr>
        <p:spPr>
          <a:xfrm>
            <a:off x="731520" y="3931920"/>
            <a:ext cx="76809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28" name="Shape 26"/>
          <p:cNvSpPr/>
          <p:nvPr/>
        </p:nvSpPr>
        <p:spPr>
          <a:xfrm>
            <a:off x="914400" y="4005072"/>
            <a:ext cx="457200" cy="36576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29" name="Text 27"/>
          <p:cNvSpPr/>
          <p:nvPr/>
        </p:nvSpPr>
        <p:spPr>
          <a:xfrm>
            <a:off x="914400" y="4005072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" sz="1200" b="1" noProof="0" dirty="0">
                <a:solidFill>
                  <a:srgbClr val="FFFFFF"/>
                </a:solidFill>
              </a:rPr>
              <a:t>5.5</a:t>
            </a:r>
            <a:endParaRPr lang="es-ES" sz="1200" noProof="0" dirty="0"/>
          </a:p>
        </p:txBody>
      </p:sp>
      <p:sp>
        <p:nvSpPr>
          <p:cNvPr id="30" name="Text 28"/>
          <p:cNvSpPr/>
          <p:nvPr/>
        </p:nvSpPr>
        <p:spPr>
          <a:xfrm>
            <a:off x="1554480" y="400507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300" b="1" noProof="0" dirty="0">
                <a:solidFill>
                  <a:srgbClr val="1E293B"/>
                </a:solidFill>
              </a:rPr>
              <a:t>Flux </a:t>
            </a:r>
            <a:r>
              <a:rPr lang="es-ES" sz="1300" b="1" noProof="0" dirty="0" err="1">
                <a:solidFill>
                  <a:srgbClr val="1E293B"/>
                </a:solidFill>
              </a:rPr>
              <a:t>Query</a:t>
            </a:r>
            <a:endParaRPr lang="es-ES" sz="1300" noProof="0" dirty="0"/>
          </a:p>
        </p:txBody>
      </p:sp>
      <p:sp>
        <p:nvSpPr>
          <p:cNvPr id="31" name="Text 29"/>
          <p:cNvSpPr/>
          <p:nvPr/>
        </p:nvSpPr>
        <p:spPr>
          <a:xfrm>
            <a:off x="1554480" y="4206240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100" i="1" noProof="0" dirty="0" err="1">
                <a:solidFill>
                  <a:srgbClr val="64748B"/>
                </a:solidFill>
              </a:rPr>
              <a:t>from</a:t>
            </a:r>
            <a:r>
              <a:rPr lang="es-ES" sz="1100" i="1" noProof="0" dirty="0">
                <a:solidFill>
                  <a:srgbClr val="64748B"/>
                </a:solidFill>
              </a:rPr>
              <a:t>(</a:t>
            </a:r>
            <a:r>
              <a:rPr lang="es-ES" sz="1100" i="1" noProof="0" dirty="0" err="1">
                <a:solidFill>
                  <a:srgbClr val="64748B"/>
                </a:solidFill>
              </a:rPr>
              <a:t>bucket</a:t>
            </a:r>
            <a:r>
              <a:rPr lang="es-ES" sz="1100" i="1" noProof="0" dirty="0">
                <a:solidFill>
                  <a:srgbClr val="64748B"/>
                </a:solidFill>
              </a:rPr>
              <a:t>: 'sensores')</a:t>
            </a:r>
            <a:endParaRPr lang="es-ES" sz="1100" noProof="0" dirty="0"/>
          </a:p>
        </p:txBody>
      </p:sp>
      <p:sp>
        <p:nvSpPr>
          <p:cNvPr id="32" name="Text 30"/>
          <p:cNvSpPr/>
          <p:nvPr/>
        </p:nvSpPr>
        <p:spPr>
          <a:xfrm>
            <a:off x="4572000" y="40690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000" noProof="0" dirty="0">
                <a:solidFill>
                  <a:srgbClr val="028090"/>
                </a:solidFill>
              </a:rPr>
              <a:t>|&gt; </a:t>
            </a:r>
            <a:r>
              <a:rPr lang="es-ES" sz="1000" noProof="0" dirty="0" err="1">
                <a:solidFill>
                  <a:srgbClr val="028090"/>
                </a:solidFill>
              </a:rPr>
              <a:t>range</a:t>
            </a:r>
            <a:r>
              <a:rPr lang="es-ES" sz="1000" noProof="0" dirty="0">
                <a:solidFill>
                  <a:srgbClr val="028090"/>
                </a:solidFill>
              </a:rPr>
              <a:t>(</a:t>
            </a:r>
            <a:r>
              <a:rPr lang="es-ES" sz="1000" noProof="0" dirty="0" err="1">
                <a:solidFill>
                  <a:srgbClr val="028090"/>
                </a:solidFill>
              </a:rPr>
              <a:t>start</a:t>
            </a:r>
            <a:r>
              <a:rPr lang="es-ES" sz="1000" noProof="0" dirty="0">
                <a:solidFill>
                  <a:srgbClr val="028090"/>
                </a:solidFill>
              </a:rPr>
              <a:t>: -1h)</a:t>
            </a:r>
            <a:endParaRPr lang="es-ES" sz="1000" noProof="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3600" b="1" noProof="0" dirty="0">
                <a:solidFill>
                  <a:srgbClr val="1E293B"/>
                </a:solidFill>
              </a:rPr>
              <a:t>Problemas Encontrados (1/2)</a:t>
            </a:r>
            <a:endParaRPr lang="es-ES" sz="3600" noProof="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7680960" cy="1051560"/>
          </a:xfrm>
          <a:prstGeom prst="rect">
            <a:avLst/>
          </a:prstGeom>
          <a:solidFill>
            <a:srgbClr val="FFFFFF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4" name="Shape 2"/>
          <p:cNvSpPr/>
          <p:nvPr/>
        </p:nvSpPr>
        <p:spPr>
          <a:xfrm>
            <a:off x="914400" y="1280160"/>
            <a:ext cx="365760" cy="365760"/>
          </a:xfrm>
          <a:prstGeom prst="ellipse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5" name="Text 3"/>
          <p:cNvSpPr/>
          <p:nvPr/>
        </p:nvSpPr>
        <p:spPr>
          <a:xfrm>
            <a:off x="914400" y="12801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" sz="1600" b="1" noProof="0" dirty="0">
                <a:solidFill>
                  <a:srgbClr val="FFFFFF"/>
                </a:solidFill>
              </a:rPr>
              <a:t>1</a:t>
            </a:r>
            <a:endParaRPr lang="es-ES" sz="1600" noProof="0" dirty="0"/>
          </a:p>
        </p:txBody>
      </p:sp>
      <p:sp>
        <p:nvSpPr>
          <p:cNvPr id="6" name="Text 4"/>
          <p:cNvSpPr/>
          <p:nvPr/>
        </p:nvSpPr>
        <p:spPr>
          <a:xfrm>
            <a:off x="1463040" y="1261872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300" b="1" noProof="0" dirty="0">
                <a:solidFill>
                  <a:srgbClr val="1E293B"/>
                </a:solidFill>
              </a:rPr>
              <a:t>❌ Sensor arranca antes que </a:t>
            </a:r>
            <a:r>
              <a:rPr lang="es-ES" sz="1300" b="1" noProof="0" dirty="0" err="1">
                <a:solidFill>
                  <a:srgbClr val="1E293B"/>
                </a:solidFill>
              </a:rPr>
              <a:t>InfluxDB</a:t>
            </a:r>
            <a:endParaRPr lang="es-ES" sz="1300" noProof="0" dirty="0"/>
          </a:p>
        </p:txBody>
      </p:sp>
      <p:sp>
        <p:nvSpPr>
          <p:cNvPr id="7" name="Shape 5"/>
          <p:cNvSpPr/>
          <p:nvPr/>
        </p:nvSpPr>
        <p:spPr>
          <a:xfrm>
            <a:off x="1463040" y="1554480"/>
            <a:ext cx="6400800" cy="274320"/>
          </a:xfrm>
          <a:prstGeom prst="rect">
            <a:avLst/>
          </a:prstGeom>
          <a:solidFill>
            <a:srgbClr val="FEF3C7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8" name="Text 6"/>
          <p:cNvSpPr/>
          <p:nvPr/>
        </p:nvSpPr>
        <p:spPr>
          <a:xfrm>
            <a:off x="1554480" y="160020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100" i="1" noProof="0" dirty="0">
                <a:solidFill>
                  <a:srgbClr val="F59E0B"/>
                </a:solidFill>
              </a:rPr>
              <a:t>⚠️ </a:t>
            </a:r>
            <a:r>
              <a:rPr lang="es-ES" sz="1100" i="1" noProof="0" dirty="0" err="1">
                <a:solidFill>
                  <a:srgbClr val="F59E0B"/>
                </a:solidFill>
              </a:rPr>
              <a:t>Connection</a:t>
            </a:r>
            <a:r>
              <a:rPr lang="es-ES" sz="1100" i="1" noProof="0" dirty="0">
                <a:solidFill>
                  <a:srgbClr val="F59E0B"/>
                </a:solidFill>
              </a:rPr>
              <a:t> </a:t>
            </a:r>
            <a:r>
              <a:rPr lang="es-ES" sz="1100" i="1" noProof="0" dirty="0" err="1">
                <a:solidFill>
                  <a:srgbClr val="F59E0B"/>
                </a:solidFill>
              </a:rPr>
              <a:t>refused</a:t>
            </a:r>
            <a:endParaRPr lang="es-ES" sz="1100" noProof="0" dirty="0"/>
          </a:p>
        </p:txBody>
      </p:sp>
      <p:sp>
        <p:nvSpPr>
          <p:cNvPr id="9" name="Text 7"/>
          <p:cNvSpPr/>
          <p:nvPr/>
        </p:nvSpPr>
        <p:spPr>
          <a:xfrm>
            <a:off x="1463040" y="192024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100" noProof="0" dirty="0">
                <a:solidFill>
                  <a:srgbClr val="10B981"/>
                </a:solidFill>
              </a:rPr>
              <a:t>✅ </a:t>
            </a:r>
            <a:r>
              <a:rPr lang="es-ES" sz="1100" noProof="0" dirty="0" err="1">
                <a:solidFill>
                  <a:srgbClr val="10B981"/>
                </a:solidFill>
              </a:rPr>
              <a:t>depends_on</a:t>
            </a:r>
            <a:r>
              <a:rPr lang="es-ES" sz="1100" noProof="0" dirty="0">
                <a:solidFill>
                  <a:srgbClr val="10B981"/>
                </a:solidFill>
              </a:rPr>
              <a:t> + </a:t>
            </a:r>
            <a:r>
              <a:rPr lang="es-ES" sz="1100" noProof="0" dirty="0" err="1">
                <a:solidFill>
                  <a:srgbClr val="10B981"/>
                </a:solidFill>
              </a:rPr>
              <a:t>time.sleep</a:t>
            </a:r>
            <a:r>
              <a:rPr lang="es-ES" sz="1100" noProof="0" dirty="0">
                <a:solidFill>
                  <a:srgbClr val="10B981"/>
                </a:solidFill>
              </a:rPr>
              <a:t>(10) + </a:t>
            </a:r>
            <a:r>
              <a:rPr lang="es-ES" sz="1100" noProof="0" dirty="0" err="1">
                <a:solidFill>
                  <a:srgbClr val="10B981"/>
                </a:solidFill>
              </a:rPr>
              <a:t>retry</a:t>
            </a:r>
            <a:r>
              <a:rPr lang="es-ES" sz="1100" noProof="0" dirty="0">
                <a:solidFill>
                  <a:srgbClr val="10B981"/>
                </a:solidFill>
              </a:rPr>
              <a:t> </a:t>
            </a:r>
            <a:r>
              <a:rPr lang="es-ES" sz="1100" noProof="0" dirty="0" err="1">
                <a:solidFill>
                  <a:srgbClr val="10B981"/>
                </a:solidFill>
              </a:rPr>
              <a:t>logic</a:t>
            </a:r>
            <a:endParaRPr lang="es-ES" sz="1100" noProof="0" dirty="0"/>
          </a:p>
        </p:txBody>
      </p:sp>
      <p:sp>
        <p:nvSpPr>
          <p:cNvPr id="10" name="Shape 8"/>
          <p:cNvSpPr/>
          <p:nvPr/>
        </p:nvSpPr>
        <p:spPr>
          <a:xfrm>
            <a:off x="731520" y="2377440"/>
            <a:ext cx="7680960" cy="1051560"/>
          </a:xfrm>
          <a:prstGeom prst="rect">
            <a:avLst/>
          </a:prstGeom>
          <a:solidFill>
            <a:srgbClr val="FFFFFF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11" name="Shape 9"/>
          <p:cNvSpPr/>
          <p:nvPr/>
        </p:nvSpPr>
        <p:spPr>
          <a:xfrm>
            <a:off x="914400" y="2468880"/>
            <a:ext cx="365760" cy="365760"/>
          </a:xfrm>
          <a:prstGeom prst="ellipse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2" name="Text 10"/>
          <p:cNvSpPr/>
          <p:nvPr/>
        </p:nvSpPr>
        <p:spPr>
          <a:xfrm>
            <a:off x="914400" y="24688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" sz="1600" b="1" noProof="0" dirty="0">
                <a:solidFill>
                  <a:srgbClr val="FFFFFF"/>
                </a:solidFill>
              </a:rPr>
              <a:t>2</a:t>
            </a:r>
            <a:endParaRPr lang="es-ES" sz="1600" noProof="0" dirty="0"/>
          </a:p>
        </p:txBody>
      </p:sp>
      <p:sp>
        <p:nvSpPr>
          <p:cNvPr id="13" name="Text 11"/>
          <p:cNvSpPr/>
          <p:nvPr/>
        </p:nvSpPr>
        <p:spPr>
          <a:xfrm>
            <a:off x="1463040" y="2450592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300" b="1" noProof="0" dirty="0">
                <a:solidFill>
                  <a:srgbClr val="1E293B"/>
                </a:solidFill>
              </a:rPr>
              <a:t>❌ Error '</a:t>
            </a:r>
            <a:r>
              <a:rPr lang="es-ES" sz="1300" b="1" noProof="0" dirty="0" err="1">
                <a:solidFill>
                  <a:srgbClr val="1E293B"/>
                </a:solidFill>
              </a:rPr>
              <a:t>unauthorized</a:t>
            </a:r>
            <a:r>
              <a:rPr lang="es-ES" sz="1300" b="1" noProof="0" dirty="0">
                <a:solidFill>
                  <a:srgbClr val="1E293B"/>
                </a:solidFill>
              </a:rPr>
              <a:t> </a:t>
            </a:r>
            <a:r>
              <a:rPr lang="es-ES" sz="1300" b="1" noProof="0" dirty="0" err="1">
                <a:solidFill>
                  <a:srgbClr val="1E293B"/>
                </a:solidFill>
              </a:rPr>
              <a:t>access</a:t>
            </a:r>
            <a:r>
              <a:rPr lang="es-ES" sz="1300" b="1" noProof="0" dirty="0">
                <a:solidFill>
                  <a:srgbClr val="1E293B"/>
                </a:solidFill>
              </a:rPr>
              <a:t>' en </a:t>
            </a:r>
            <a:r>
              <a:rPr lang="es-ES" sz="1300" b="1" noProof="0" dirty="0" err="1">
                <a:solidFill>
                  <a:srgbClr val="1E293B"/>
                </a:solidFill>
              </a:rPr>
              <a:t>Grafana</a:t>
            </a:r>
            <a:endParaRPr lang="es-ES" sz="1300" noProof="0" dirty="0"/>
          </a:p>
        </p:txBody>
      </p:sp>
      <p:sp>
        <p:nvSpPr>
          <p:cNvPr id="14" name="Shape 12"/>
          <p:cNvSpPr/>
          <p:nvPr/>
        </p:nvSpPr>
        <p:spPr>
          <a:xfrm>
            <a:off x="1463040" y="2743200"/>
            <a:ext cx="6400800" cy="274320"/>
          </a:xfrm>
          <a:prstGeom prst="rect">
            <a:avLst/>
          </a:prstGeom>
          <a:solidFill>
            <a:srgbClr val="FEF3C7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5" name="Text 13"/>
          <p:cNvSpPr/>
          <p:nvPr/>
        </p:nvSpPr>
        <p:spPr>
          <a:xfrm>
            <a:off x="1554480" y="278892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100" i="1" noProof="0" dirty="0">
                <a:solidFill>
                  <a:srgbClr val="F59E0B"/>
                </a:solidFill>
              </a:rPr>
              <a:t>⚠️ </a:t>
            </a:r>
            <a:r>
              <a:rPr lang="es-ES" sz="1100" i="1" noProof="0" dirty="0" err="1">
                <a:solidFill>
                  <a:srgbClr val="F59E0B"/>
                </a:solidFill>
              </a:rPr>
              <a:t>InfluxDB</a:t>
            </a:r>
            <a:r>
              <a:rPr lang="es-ES" sz="1100" i="1" noProof="0" dirty="0">
                <a:solidFill>
                  <a:srgbClr val="F59E0B"/>
                </a:solidFill>
              </a:rPr>
              <a:t> </a:t>
            </a:r>
            <a:r>
              <a:rPr lang="es-ES" sz="1100" i="1" noProof="0" dirty="0" err="1">
                <a:solidFill>
                  <a:srgbClr val="F59E0B"/>
                </a:solidFill>
              </a:rPr>
              <a:t>returned</a:t>
            </a:r>
            <a:r>
              <a:rPr lang="es-ES" sz="1100" i="1" noProof="0" dirty="0">
                <a:solidFill>
                  <a:srgbClr val="F59E0B"/>
                </a:solidFill>
              </a:rPr>
              <a:t> error</a:t>
            </a:r>
            <a:endParaRPr lang="es-ES" sz="1100" noProof="0" dirty="0"/>
          </a:p>
        </p:txBody>
      </p:sp>
      <p:sp>
        <p:nvSpPr>
          <p:cNvPr id="16" name="Text 14"/>
          <p:cNvSpPr/>
          <p:nvPr/>
        </p:nvSpPr>
        <p:spPr>
          <a:xfrm>
            <a:off x="1463040" y="310896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100" noProof="0" dirty="0">
                <a:solidFill>
                  <a:srgbClr val="10B981"/>
                </a:solidFill>
              </a:rPr>
              <a:t>✅ Cambiar de </a:t>
            </a:r>
            <a:r>
              <a:rPr lang="es-ES" sz="1100" noProof="0" dirty="0" err="1">
                <a:solidFill>
                  <a:srgbClr val="10B981"/>
                </a:solidFill>
              </a:rPr>
              <a:t>InfluxQL</a:t>
            </a:r>
            <a:r>
              <a:rPr lang="es-ES" sz="1100" noProof="0" dirty="0">
                <a:solidFill>
                  <a:srgbClr val="10B981"/>
                </a:solidFill>
              </a:rPr>
              <a:t> a Flux + verificar token correcto</a:t>
            </a:r>
            <a:endParaRPr lang="es-ES" sz="1100" noProof="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3600" b="1" noProof="0" dirty="0">
                <a:solidFill>
                  <a:srgbClr val="1E293B"/>
                </a:solidFill>
              </a:rPr>
              <a:t>Problemas Encontrados (2/2)</a:t>
            </a:r>
            <a:endParaRPr lang="es-ES" sz="3600" noProof="0" dirty="0"/>
          </a:p>
        </p:txBody>
      </p:sp>
      <p:sp>
        <p:nvSpPr>
          <p:cNvPr id="10" name="Shape 8"/>
          <p:cNvSpPr/>
          <p:nvPr/>
        </p:nvSpPr>
        <p:spPr>
          <a:xfrm>
            <a:off x="683029" y="1520190"/>
            <a:ext cx="7680960" cy="1051560"/>
          </a:xfrm>
          <a:prstGeom prst="rect">
            <a:avLst/>
          </a:prstGeom>
          <a:solidFill>
            <a:srgbClr val="FFFFFF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11" name="Shape 9"/>
          <p:cNvSpPr/>
          <p:nvPr/>
        </p:nvSpPr>
        <p:spPr>
          <a:xfrm>
            <a:off x="865909" y="1611630"/>
            <a:ext cx="365760" cy="365760"/>
          </a:xfrm>
          <a:prstGeom prst="ellipse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2" name="Text 10"/>
          <p:cNvSpPr/>
          <p:nvPr/>
        </p:nvSpPr>
        <p:spPr>
          <a:xfrm>
            <a:off x="865909" y="161163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" sz="1600" b="1" noProof="0" dirty="0">
                <a:solidFill>
                  <a:srgbClr val="FFFFFF"/>
                </a:solidFill>
              </a:rPr>
              <a:t>3</a:t>
            </a:r>
            <a:endParaRPr lang="es-ES" sz="1600" noProof="0" dirty="0"/>
          </a:p>
        </p:txBody>
      </p:sp>
      <p:sp>
        <p:nvSpPr>
          <p:cNvPr id="13" name="Text 11"/>
          <p:cNvSpPr/>
          <p:nvPr/>
        </p:nvSpPr>
        <p:spPr>
          <a:xfrm>
            <a:off x="1414549" y="1593342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300" b="1" noProof="0" dirty="0">
                <a:solidFill>
                  <a:srgbClr val="1E293B"/>
                </a:solidFill>
              </a:rPr>
              <a:t>❌ Solo muestra datos nuevos, no históricos</a:t>
            </a:r>
            <a:endParaRPr lang="es-ES" sz="1300" noProof="0" dirty="0"/>
          </a:p>
        </p:txBody>
      </p:sp>
      <p:sp>
        <p:nvSpPr>
          <p:cNvPr id="14" name="Shape 12"/>
          <p:cNvSpPr/>
          <p:nvPr/>
        </p:nvSpPr>
        <p:spPr>
          <a:xfrm>
            <a:off x="1414549" y="1885950"/>
            <a:ext cx="6400800" cy="274320"/>
          </a:xfrm>
          <a:prstGeom prst="rect">
            <a:avLst/>
          </a:prstGeom>
          <a:solidFill>
            <a:srgbClr val="FEF3C7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5" name="Text 13"/>
          <p:cNvSpPr/>
          <p:nvPr/>
        </p:nvSpPr>
        <p:spPr>
          <a:xfrm>
            <a:off x="1505989" y="193167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100" i="1" noProof="0" dirty="0">
                <a:solidFill>
                  <a:srgbClr val="F59E0B"/>
                </a:solidFill>
              </a:rPr>
              <a:t>⚠️ Gráfica empieza desde cero cada vez</a:t>
            </a:r>
            <a:endParaRPr lang="es-ES" sz="1100" noProof="0" dirty="0"/>
          </a:p>
        </p:txBody>
      </p:sp>
      <p:sp>
        <p:nvSpPr>
          <p:cNvPr id="16" name="Text 14"/>
          <p:cNvSpPr/>
          <p:nvPr/>
        </p:nvSpPr>
        <p:spPr>
          <a:xfrm>
            <a:off x="1414549" y="225171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100" noProof="0" dirty="0">
                <a:solidFill>
                  <a:srgbClr val="10B981"/>
                </a:solidFill>
              </a:rPr>
              <a:t>✅ Volumen </a:t>
            </a:r>
            <a:r>
              <a:rPr lang="es-ES" sz="1100" noProof="0" dirty="0" err="1">
                <a:solidFill>
                  <a:srgbClr val="10B981"/>
                </a:solidFill>
              </a:rPr>
              <a:t>influxdb_data</a:t>
            </a:r>
            <a:r>
              <a:rPr lang="es-ES" sz="1100" noProof="0" dirty="0">
                <a:solidFill>
                  <a:srgbClr val="10B981"/>
                </a:solidFill>
              </a:rPr>
              <a:t> montado correctamente + verificar </a:t>
            </a:r>
            <a:r>
              <a:rPr lang="es-ES" sz="1100" noProof="0" dirty="0" err="1">
                <a:solidFill>
                  <a:srgbClr val="10B981"/>
                </a:solidFill>
              </a:rPr>
              <a:t>range</a:t>
            </a:r>
            <a:endParaRPr lang="es-ES" sz="1100" noProof="0" dirty="0"/>
          </a:p>
        </p:txBody>
      </p:sp>
      <p:sp>
        <p:nvSpPr>
          <p:cNvPr id="17" name="Shape 15"/>
          <p:cNvSpPr/>
          <p:nvPr/>
        </p:nvSpPr>
        <p:spPr>
          <a:xfrm>
            <a:off x="683029" y="2708910"/>
            <a:ext cx="7680960" cy="1051560"/>
          </a:xfrm>
          <a:prstGeom prst="rect">
            <a:avLst/>
          </a:prstGeom>
          <a:solidFill>
            <a:srgbClr val="FFFFFF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18" name="Shape 16"/>
          <p:cNvSpPr/>
          <p:nvPr/>
        </p:nvSpPr>
        <p:spPr>
          <a:xfrm>
            <a:off x="865909" y="2800350"/>
            <a:ext cx="365760" cy="365760"/>
          </a:xfrm>
          <a:prstGeom prst="ellipse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9" name="Text 17"/>
          <p:cNvSpPr/>
          <p:nvPr/>
        </p:nvSpPr>
        <p:spPr>
          <a:xfrm>
            <a:off x="865909" y="280035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" sz="1600" b="1" noProof="0" dirty="0">
                <a:solidFill>
                  <a:srgbClr val="FFFFFF"/>
                </a:solidFill>
              </a:rPr>
              <a:t>4</a:t>
            </a:r>
            <a:endParaRPr lang="es-ES" sz="1600" noProof="0" dirty="0"/>
          </a:p>
        </p:txBody>
      </p:sp>
      <p:sp>
        <p:nvSpPr>
          <p:cNvPr id="20" name="Text 18"/>
          <p:cNvSpPr/>
          <p:nvPr/>
        </p:nvSpPr>
        <p:spPr>
          <a:xfrm>
            <a:off x="1414549" y="2782062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300" b="1" noProof="0" dirty="0">
                <a:solidFill>
                  <a:srgbClr val="1E293B"/>
                </a:solidFill>
              </a:rPr>
              <a:t>❌ </a:t>
            </a:r>
            <a:r>
              <a:rPr lang="es-ES" sz="1300" b="1" noProof="0" dirty="0" err="1">
                <a:solidFill>
                  <a:srgbClr val="1E293B"/>
                </a:solidFill>
              </a:rPr>
              <a:t>Dashboard</a:t>
            </a:r>
            <a:r>
              <a:rPr lang="es-ES" sz="1300" b="1" noProof="0" dirty="0">
                <a:solidFill>
                  <a:srgbClr val="1E293B"/>
                </a:solidFill>
              </a:rPr>
              <a:t> no se guarda automáticamente</a:t>
            </a:r>
            <a:endParaRPr lang="es-ES" sz="1300" noProof="0" dirty="0"/>
          </a:p>
        </p:txBody>
      </p:sp>
      <p:sp>
        <p:nvSpPr>
          <p:cNvPr id="21" name="Shape 19"/>
          <p:cNvSpPr/>
          <p:nvPr/>
        </p:nvSpPr>
        <p:spPr>
          <a:xfrm>
            <a:off x="1414549" y="3074670"/>
            <a:ext cx="6400800" cy="274320"/>
          </a:xfrm>
          <a:prstGeom prst="rect">
            <a:avLst/>
          </a:prstGeom>
          <a:solidFill>
            <a:srgbClr val="FEF3C7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22" name="Text 20"/>
          <p:cNvSpPr/>
          <p:nvPr/>
        </p:nvSpPr>
        <p:spPr>
          <a:xfrm>
            <a:off x="1505989" y="312039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100" i="1" noProof="0" dirty="0">
                <a:solidFill>
                  <a:srgbClr val="F59E0B"/>
                </a:solidFill>
              </a:rPr>
              <a:t>⚠️ Configuración se pierde al recrear contenedor</a:t>
            </a:r>
            <a:endParaRPr lang="es-ES" sz="1100" noProof="0" dirty="0"/>
          </a:p>
        </p:txBody>
      </p:sp>
      <p:sp>
        <p:nvSpPr>
          <p:cNvPr id="23" name="Text 21"/>
          <p:cNvSpPr/>
          <p:nvPr/>
        </p:nvSpPr>
        <p:spPr>
          <a:xfrm>
            <a:off x="1414549" y="344043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100" noProof="0" dirty="0">
                <a:solidFill>
                  <a:srgbClr val="10B981"/>
                </a:solidFill>
              </a:rPr>
              <a:t>✅ </a:t>
            </a:r>
            <a:r>
              <a:rPr lang="es-ES" sz="1100" noProof="0" dirty="0" err="1">
                <a:solidFill>
                  <a:srgbClr val="10B981"/>
                </a:solidFill>
              </a:rPr>
              <a:t>Grafana</a:t>
            </a:r>
            <a:r>
              <a:rPr lang="es-ES" sz="1100" noProof="0" dirty="0">
                <a:solidFill>
                  <a:srgbClr val="10B981"/>
                </a:solidFill>
              </a:rPr>
              <a:t> </a:t>
            </a:r>
            <a:r>
              <a:rPr lang="es-ES" sz="1100" noProof="0" dirty="0" err="1">
                <a:solidFill>
                  <a:srgbClr val="10B981"/>
                </a:solidFill>
              </a:rPr>
              <a:t>Provisioning</a:t>
            </a:r>
            <a:r>
              <a:rPr lang="es-ES" sz="1100" noProof="0" dirty="0">
                <a:solidFill>
                  <a:srgbClr val="10B981"/>
                </a:solidFill>
              </a:rPr>
              <a:t> con </a:t>
            </a:r>
            <a:r>
              <a:rPr lang="es-ES" sz="1100" noProof="0" dirty="0" err="1">
                <a:solidFill>
                  <a:srgbClr val="10B981"/>
                </a:solidFill>
              </a:rPr>
              <a:t>dashboards</a:t>
            </a:r>
            <a:r>
              <a:rPr lang="es-ES" sz="1100" noProof="0" dirty="0">
                <a:solidFill>
                  <a:srgbClr val="10B981"/>
                </a:solidFill>
              </a:rPr>
              <a:t> como JSON + volúmenes</a:t>
            </a:r>
            <a:endParaRPr lang="es-ES" sz="1100" noProof="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3600" b="1" noProof="0" dirty="0">
                <a:solidFill>
                  <a:srgbClr val="1E293B"/>
                </a:solidFill>
              </a:rPr>
              <a:t>🎯 Solución Final: </a:t>
            </a:r>
            <a:r>
              <a:rPr lang="es-ES" sz="3600" b="1" noProof="0" dirty="0" err="1">
                <a:solidFill>
                  <a:srgbClr val="1E293B"/>
                </a:solidFill>
              </a:rPr>
              <a:t>Provisioning</a:t>
            </a:r>
            <a:endParaRPr lang="es-ES" sz="3600" noProof="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3657600" cy="329184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5" name="Text 3"/>
          <p:cNvSpPr/>
          <p:nvPr/>
        </p:nvSpPr>
        <p:spPr>
          <a:xfrm>
            <a:off x="914400" y="1508760"/>
            <a:ext cx="3291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s-ES" sz="10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📁 proyecto-</a:t>
            </a:r>
            <a:r>
              <a:rPr lang="es-ES" sz="1000" noProof="0" dirty="0" err="1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iot</a:t>
            </a:r>
            <a:r>
              <a:rPr lang="es-ES" sz="10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s-ES" sz="1000" noProof="0" dirty="0" err="1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</a:t>
            </a:r>
            <a:r>
              <a:rPr lang="es-ES" sz="10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endParaRPr lang="es-ES" sz="1000" noProof="0" dirty="0"/>
          </a:p>
          <a:p>
            <a:pPr marL="0" indent="0">
              <a:lnSpc>
                <a:spcPts val="1400"/>
              </a:lnSpc>
              <a:buNone/>
            </a:pPr>
            <a:r>
              <a:rPr lang="es-ES" sz="10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📄 </a:t>
            </a:r>
            <a:r>
              <a:rPr lang="es-ES" sz="1000" noProof="0" dirty="0" err="1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docker-compose.yml</a:t>
            </a:r>
            <a:endParaRPr lang="es-ES" sz="1000" noProof="0" dirty="0"/>
          </a:p>
          <a:p>
            <a:pPr marL="0" indent="0">
              <a:lnSpc>
                <a:spcPts val="1400"/>
              </a:lnSpc>
              <a:buNone/>
            </a:pPr>
            <a:r>
              <a:rPr lang="es-ES" sz="10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📁 sensor/</a:t>
            </a:r>
            <a:endParaRPr lang="es-ES" sz="1000" noProof="0" dirty="0"/>
          </a:p>
          <a:p>
            <a:pPr marL="0" indent="0">
              <a:lnSpc>
                <a:spcPts val="1400"/>
              </a:lnSpc>
              <a:buNone/>
            </a:pPr>
            <a:r>
              <a:rPr lang="es-ES" sz="10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</a:t>
            </a:r>
            <a:r>
              <a:rPr lang="es-ES" sz="1000" noProof="0" dirty="0" err="1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Dockerfile</a:t>
            </a:r>
            <a:endParaRPr lang="es-ES" sz="1000" noProof="0" dirty="0"/>
          </a:p>
          <a:p>
            <a:pPr marL="0" indent="0">
              <a:lnSpc>
                <a:spcPts val="1400"/>
              </a:lnSpc>
              <a:buNone/>
            </a:pPr>
            <a:r>
              <a:rPr lang="es-ES" sz="10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sensor_simulator.py</a:t>
            </a:r>
            <a:endParaRPr lang="es-ES" sz="1000" noProof="0" dirty="0"/>
          </a:p>
          <a:p>
            <a:pPr marL="0" indent="0">
              <a:lnSpc>
                <a:spcPts val="1400"/>
              </a:lnSpc>
              <a:buNone/>
            </a:pPr>
            <a:r>
              <a:rPr lang="es-ES" sz="10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requirements.txt</a:t>
            </a:r>
            <a:endParaRPr lang="es-ES" sz="1000" noProof="0" dirty="0"/>
          </a:p>
          <a:p>
            <a:pPr marL="0" indent="0">
              <a:lnSpc>
                <a:spcPts val="1400"/>
              </a:lnSpc>
              <a:buNone/>
            </a:pPr>
            <a:r>
              <a:rPr lang="es-ES" sz="10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📁 </a:t>
            </a:r>
            <a:r>
              <a:rPr lang="es-ES" sz="1000" noProof="0" dirty="0" err="1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grafana</a:t>
            </a:r>
            <a:r>
              <a:rPr lang="es-ES" sz="10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endParaRPr lang="es-ES" sz="1000" noProof="0" dirty="0"/>
          </a:p>
          <a:p>
            <a:pPr marL="0" indent="0">
              <a:lnSpc>
                <a:spcPts val="1400"/>
              </a:lnSpc>
              <a:buNone/>
            </a:pPr>
            <a:r>
              <a:rPr lang="es-ES" sz="10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├── 📁 </a:t>
            </a:r>
            <a:r>
              <a:rPr lang="es-ES" sz="1000" noProof="0" dirty="0" err="1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dashboards</a:t>
            </a:r>
            <a:r>
              <a:rPr lang="es-ES" sz="10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endParaRPr lang="es-ES" sz="1000" noProof="0" dirty="0"/>
          </a:p>
          <a:p>
            <a:pPr marL="0" indent="0">
              <a:lnSpc>
                <a:spcPts val="1400"/>
              </a:lnSpc>
              <a:buNone/>
            </a:pPr>
            <a:r>
              <a:rPr lang="es-ES" sz="10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└── </a:t>
            </a:r>
            <a:r>
              <a:rPr lang="es-ES" sz="1000" noProof="0" dirty="0" err="1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iot-dashboard.json</a:t>
            </a:r>
            <a:endParaRPr lang="es-ES" sz="1000" noProof="0" dirty="0"/>
          </a:p>
          <a:p>
            <a:pPr marL="0" indent="0">
              <a:lnSpc>
                <a:spcPts val="1400"/>
              </a:lnSpc>
              <a:buNone/>
            </a:pPr>
            <a:r>
              <a:rPr lang="es-ES" sz="10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└── 📁 </a:t>
            </a:r>
            <a:r>
              <a:rPr lang="es-ES" sz="1000" noProof="0" dirty="0" err="1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provisioning</a:t>
            </a:r>
            <a:r>
              <a:rPr lang="es-ES" sz="10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endParaRPr lang="es-ES" sz="1000" noProof="0" dirty="0"/>
          </a:p>
          <a:p>
            <a:pPr marL="0" indent="0">
              <a:lnSpc>
                <a:spcPts val="1400"/>
              </a:lnSpc>
              <a:buNone/>
            </a:pPr>
            <a:r>
              <a:rPr lang="es-ES" sz="10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├── </a:t>
            </a:r>
            <a:r>
              <a:rPr lang="es-ES" sz="1000" noProof="0" dirty="0" err="1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dashboards</a:t>
            </a:r>
            <a:r>
              <a:rPr lang="es-ES" sz="10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endParaRPr lang="es-ES" sz="1000" noProof="0" dirty="0"/>
          </a:p>
          <a:p>
            <a:pPr marL="0" indent="0">
              <a:lnSpc>
                <a:spcPts val="1400"/>
              </a:lnSpc>
              <a:buNone/>
            </a:pPr>
            <a:r>
              <a:rPr lang="es-ES" sz="10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│   └── </a:t>
            </a:r>
            <a:r>
              <a:rPr lang="es-ES" sz="1000" noProof="0" dirty="0" err="1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dashboard.yml</a:t>
            </a:r>
            <a:endParaRPr lang="es-ES" sz="1000" noProof="0" dirty="0"/>
          </a:p>
          <a:p>
            <a:pPr marL="0" indent="0">
              <a:lnSpc>
                <a:spcPts val="1400"/>
              </a:lnSpc>
              <a:buNone/>
            </a:pPr>
            <a:r>
              <a:rPr lang="es-ES" sz="10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└── </a:t>
            </a:r>
            <a:r>
              <a:rPr lang="es-ES" sz="1000" noProof="0" dirty="0" err="1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datasources</a:t>
            </a:r>
            <a:r>
              <a:rPr lang="es-ES" sz="10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endParaRPr lang="es-ES" sz="1000" noProof="0" dirty="0"/>
          </a:p>
          <a:p>
            <a:pPr marL="0" indent="0">
              <a:lnSpc>
                <a:spcPts val="1400"/>
              </a:lnSpc>
              <a:buNone/>
            </a:pPr>
            <a:r>
              <a:rPr lang="es-ES" sz="1000" noProof="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└── </a:t>
            </a:r>
            <a:r>
              <a:rPr lang="es-ES" sz="1000" noProof="0" dirty="0" err="1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influxdb.yml</a:t>
            </a:r>
            <a:endParaRPr lang="es-ES" sz="1000" noProof="0" dirty="0"/>
          </a:p>
        </p:txBody>
      </p:sp>
      <p:sp>
        <p:nvSpPr>
          <p:cNvPr id="6" name="Text 4"/>
          <p:cNvSpPr/>
          <p:nvPr/>
        </p:nvSpPr>
        <p:spPr>
          <a:xfrm>
            <a:off x="4754880" y="1371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600" b="1" noProof="0" dirty="0">
                <a:solidFill>
                  <a:srgbClr val="10B981"/>
                </a:solidFill>
              </a:rPr>
              <a:t>✅ Ventajas:</a:t>
            </a:r>
            <a:endParaRPr lang="es-ES" sz="1600" noProof="0" dirty="0"/>
          </a:p>
        </p:txBody>
      </p:sp>
      <p:sp>
        <p:nvSpPr>
          <p:cNvPr id="7" name="Shape 5"/>
          <p:cNvSpPr/>
          <p:nvPr/>
        </p:nvSpPr>
        <p:spPr>
          <a:xfrm>
            <a:off x="4754880" y="1737360"/>
            <a:ext cx="3657600" cy="365760"/>
          </a:xfrm>
          <a:prstGeom prst="rect">
            <a:avLst/>
          </a:prstGeom>
          <a:solidFill>
            <a:srgbClr val="D1FAE5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8" name="Text 6"/>
          <p:cNvSpPr/>
          <p:nvPr/>
        </p:nvSpPr>
        <p:spPr>
          <a:xfrm>
            <a:off x="4937760" y="17830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200" noProof="0" dirty="0">
                <a:solidFill>
                  <a:srgbClr val="1E293B"/>
                </a:solidFill>
              </a:rPr>
              <a:t>✓ </a:t>
            </a:r>
            <a:r>
              <a:rPr lang="es-ES" sz="1200" noProof="0" dirty="0" err="1">
                <a:solidFill>
                  <a:srgbClr val="1E293B"/>
                </a:solidFill>
              </a:rPr>
              <a:t>Dashboard</a:t>
            </a:r>
            <a:r>
              <a:rPr lang="es-ES" sz="1200" noProof="0" dirty="0">
                <a:solidFill>
                  <a:srgbClr val="1E293B"/>
                </a:solidFill>
              </a:rPr>
              <a:t> se carga automáticamente</a:t>
            </a:r>
            <a:endParaRPr lang="es-ES" sz="1200" noProof="0" dirty="0"/>
          </a:p>
        </p:txBody>
      </p:sp>
      <p:sp>
        <p:nvSpPr>
          <p:cNvPr id="11" name="Shape 9"/>
          <p:cNvSpPr/>
          <p:nvPr/>
        </p:nvSpPr>
        <p:spPr>
          <a:xfrm>
            <a:off x="4754880" y="2205990"/>
            <a:ext cx="3657600" cy="365760"/>
          </a:xfrm>
          <a:prstGeom prst="rect">
            <a:avLst/>
          </a:prstGeom>
          <a:solidFill>
            <a:srgbClr val="D1FAE5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2" name="Text 10"/>
          <p:cNvSpPr/>
          <p:nvPr/>
        </p:nvSpPr>
        <p:spPr>
          <a:xfrm>
            <a:off x="4937760" y="225171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200" noProof="0" dirty="0">
                <a:solidFill>
                  <a:srgbClr val="1E293B"/>
                </a:solidFill>
              </a:rPr>
              <a:t>✓ Configuración versionada en Git</a:t>
            </a:r>
            <a:endParaRPr lang="es-ES" sz="1200" noProof="0" dirty="0"/>
          </a:p>
        </p:txBody>
      </p:sp>
      <p:sp>
        <p:nvSpPr>
          <p:cNvPr id="13" name="Shape 11"/>
          <p:cNvSpPr/>
          <p:nvPr/>
        </p:nvSpPr>
        <p:spPr>
          <a:xfrm>
            <a:off x="4754880" y="2663190"/>
            <a:ext cx="3657600" cy="365760"/>
          </a:xfrm>
          <a:prstGeom prst="rect">
            <a:avLst/>
          </a:prstGeom>
          <a:solidFill>
            <a:srgbClr val="D1FAE5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4" name="Text 12"/>
          <p:cNvSpPr/>
          <p:nvPr/>
        </p:nvSpPr>
        <p:spPr>
          <a:xfrm>
            <a:off x="4937760" y="270891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200" noProof="0" dirty="0">
                <a:solidFill>
                  <a:srgbClr val="1E293B"/>
                </a:solidFill>
              </a:rPr>
              <a:t>✓ Reproducible en cualquier máquina</a:t>
            </a:r>
            <a:endParaRPr lang="es-ES" sz="1200" noProof="0" dirty="0"/>
          </a:p>
        </p:txBody>
      </p:sp>
      <p:sp>
        <p:nvSpPr>
          <p:cNvPr id="15" name="Shape 13"/>
          <p:cNvSpPr/>
          <p:nvPr/>
        </p:nvSpPr>
        <p:spPr>
          <a:xfrm>
            <a:off x="4754880" y="3120390"/>
            <a:ext cx="3657600" cy="365760"/>
          </a:xfrm>
          <a:prstGeom prst="rect">
            <a:avLst/>
          </a:prstGeom>
          <a:solidFill>
            <a:srgbClr val="D1FAE5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6" name="Text 14"/>
          <p:cNvSpPr/>
          <p:nvPr/>
        </p:nvSpPr>
        <p:spPr>
          <a:xfrm>
            <a:off x="4937760" y="316611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200" noProof="0" dirty="0">
                <a:solidFill>
                  <a:srgbClr val="1E293B"/>
                </a:solidFill>
              </a:rPr>
              <a:t>✓ No requiere configuración manual</a:t>
            </a:r>
            <a:endParaRPr lang="es-ES" sz="1200" noProof="0" dirty="0"/>
          </a:p>
        </p:txBody>
      </p:sp>
      <p:sp>
        <p:nvSpPr>
          <p:cNvPr id="19" name="Shape 17"/>
          <p:cNvSpPr/>
          <p:nvPr/>
        </p:nvSpPr>
        <p:spPr>
          <a:xfrm>
            <a:off x="4754880" y="4206240"/>
            <a:ext cx="3657600" cy="4572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20" name="Text 18"/>
          <p:cNvSpPr/>
          <p:nvPr/>
        </p:nvSpPr>
        <p:spPr>
          <a:xfrm>
            <a:off x="4754880" y="4251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" sz="1800" b="1" noProof="0" dirty="0" err="1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</a:t>
            </a:r>
            <a:r>
              <a:rPr lang="es-ES" sz="1800" b="1" noProof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s-ES" sz="1800" b="1" noProof="0" dirty="0" err="1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compose</a:t>
            </a:r>
            <a:r>
              <a:rPr lang="es-ES" sz="1800" b="1" noProof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up</a:t>
            </a:r>
            <a:endParaRPr lang="es-ES" sz="1800" noProof="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" sz="5400" b="1" noProof="0" dirty="0">
                <a:solidFill>
                  <a:srgbClr val="02C39A"/>
                </a:solidFill>
              </a:rPr>
              <a:t>DEMO</a:t>
            </a:r>
            <a:endParaRPr lang="es-ES" sz="5400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2560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" sz="2200" noProof="0" dirty="0">
                <a:solidFill>
                  <a:srgbClr val="F8FAFC"/>
                </a:solidFill>
              </a:rPr>
              <a:t>Visualización en Tiempo Real</a:t>
            </a:r>
            <a:endParaRPr lang="es-ES" sz="2200" noProof="0" dirty="0"/>
          </a:p>
        </p:txBody>
      </p:sp>
      <p:sp>
        <p:nvSpPr>
          <p:cNvPr id="4" name="Text 2"/>
          <p:cNvSpPr/>
          <p:nvPr/>
        </p:nvSpPr>
        <p:spPr>
          <a:xfrm>
            <a:off x="457200" y="3017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" sz="1400" i="1" noProof="0" dirty="0">
                <a:solidFill>
                  <a:srgbClr val="64748B"/>
                </a:solidFill>
              </a:rPr>
              <a:t>Terminal + </a:t>
            </a:r>
            <a:r>
              <a:rPr lang="es-ES" sz="1400" i="1" noProof="0" dirty="0" err="1">
                <a:solidFill>
                  <a:srgbClr val="64748B"/>
                </a:solidFill>
              </a:rPr>
              <a:t>Grafana</a:t>
            </a:r>
            <a:r>
              <a:rPr lang="es-ES" sz="1400" i="1" noProof="0" dirty="0">
                <a:solidFill>
                  <a:srgbClr val="64748B"/>
                </a:solidFill>
              </a:rPr>
              <a:t> </a:t>
            </a:r>
            <a:r>
              <a:rPr lang="es-ES" sz="1400" i="1" noProof="0" dirty="0" err="1">
                <a:solidFill>
                  <a:srgbClr val="64748B"/>
                </a:solidFill>
              </a:rPr>
              <a:t>Dashboard</a:t>
            </a:r>
            <a:endParaRPr lang="es-ES" sz="1400" noProof="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3600" b="1" noProof="0" dirty="0">
                <a:solidFill>
                  <a:srgbClr val="1E293B"/>
                </a:solidFill>
              </a:rPr>
              <a:t>Mejoras Futuras</a:t>
            </a:r>
            <a:endParaRPr lang="es-ES" sz="3600" noProof="0" dirty="0"/>
          </a:p>
        </p:txBody>
      </p:sp>
      <p:sp>
        <p:nvSpPr>
          <p:cNvPr id="3" name="Shape 1"/>
          <p:cNvSpPr/>
          <p:nvPr/>
        </p:nvSpPr>
        <p:spPr>
          <a:xfrm>
            <a:off x="731520" y="128016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" sz="2000" noProof="0" dirty="0">
                <a:solidFill>
                  <a:srgbClr val="000000"/>
                </a:solidFill>
              </a:rPr>
              <a:t>🔢</a:t>
            </a:r>
            <a:endParaRPr lang="es-ES" sz="2000" noProof="0" dirty="0"/>
          </a:p>
        </p:txBody>
      </p:sp>
      <p:sp>
        <p:nvSpPr>
          <p:cNvPr id="5" name="Text 3"/>
          <p:cNvSpPr/>
          <p:nvPr/>
        </p:nvSpPr>
        <p:spPr>
          <a:xfrm>
            <a:off x="1280160" y="13258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300" noProof="0" dirty="0">
                <a:solidFill>
                  <a:srgbClr val="1E293B"/>
                </a:solidFill>
              </a:rPr>
              <a:t>Múltiples sensores con ubicaciones diferentes</a:t>
            </a:r>
            <a:endParaRPr lang="es-ES" sz="1300" noProof="0" dirty="0"/>
          </a:p>
        </p:txBody>
      </p:sp>
      <p:sp>
        <p:nvSpPr>
          <p:cNvPr id="6" name="Shape 4"/>
          <p:cNvSpPr/>
          <p:nvPr/>
        </p:nvSpPr>
        <p:spPr>
          <a:xfrm>
            <a:off x="4846320" y="128016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7" name="Text 5"/>
          <p:cNvSpPr/>
          <p:nvPr/>
        </p:nvSpPr>
        <p:spPr>
          <a:xfrm>
            <a:off x="4846320" y="12801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" sz="2000" noProof="0" dirty="0">
                <a:solidFill>
                  <a:srgbClr val="000000"/>
                </a:solidFill>
              </a:rPr>
              <a:t>🚨</a:t>
            </a:r>
            <a:endParaRPr lang="es-ES" sz="2000" noProof="0" dirty="0"/>
          </a:p>
        </p:txBody>
      </p:sp>
      <p:sp>
        <p:nvSpPr>
          <p:cNvPr id="8" name="Text 6"/>
          <p:cNvSpPr/>
          <p:nvPr/>
        </p:nvSpPr>
        <p:spPr>
          <a:xfrm>
            <a:off x="5394960" y="13258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300" noProof="0" dirty="0">
                <a:solidFill>
                  <a:srgbClr val="1E293B"/>
                </a:solidFill>
              </a:rPr>
              <a:t>Alertas cuando temperatura &gt; 28°C</a:t>
            </a:r>
            <a:endParaRPr lang="es-ES" sz="1300" noProof="0" dirty="0"/>
          </a:p>
        </p:txBody>
      </p:sp>
      <p:sp>
        <p:nvSpPr>
          <p:cNvPr id="9" name="Shape 7"/>
          <p:cNvSpPr/>
          <p:nvPr/>
        </p:nvSpPr>
        <p:spPr>
          <a:xfrm>
            <a:off x="731520" y="196596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0" name="Text 8"/>
          <p:cNvSpPr/>
          <p:nvPr/>
        </p:nvSpPr>
        <p:spPr>
          <a:xfrm>
            <a:off x="731520" y="1965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" sz="2000" noProof="0" dirty="0">
                <a:solidFill>
                  <a:srgbClr val="000000"/>
                </a:solidFill>
              </a:rPr>
              <a:t>📡</a:t>
            </a:r>
            <a:endParaRPr lang="es-ES" sz="2000" noProof="0" dirty="0"/>
          </a:p>
        </p:txBody>
      </p:sp>
      <p:sp>
        <p:nvSpPr>
          <p:cNvPr id="11" name="Text 9"/>
          <p:cNvSpPr/>
          <p:nvPr/>
        </p:nvSpPr>
        <p:spPr>
          <a:xfrm>
            <a:off x="1280160" y="20116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300" noProof="0" dirty="0">
                <a:solidFill>
                  <a:srgbClr val="1E293B"/>
                </a:solidFill>
              </a:rPr>
              <a:t>Protocolo MQTT para comunicación </a:t>
            </a:r>
            <a:r>
              <a:rPr lang="es-ES" sz="1300" noProof="0" dirty="0" err="1">
                <a:solidFill>
                  <a:srgbClr val="1E293B"/>
                </a:solidFill>
              </a:rPr>
              <a:t>IoT</a:t>
            </a:r>
            <a:r>
              <a:rPr lang="es-ES" sz="1300" noProof="0" dirty="0">
                <a:solidFill>
                  <a:srgbClr val="1E293B"/>
                </a:solidFill>
              </a:rPr>
              <a:t> real</a:t>
            </a:r>
            <a:endParaRPr lang="es-ES" sz="1300" noProof="0" dirty="0"/>
          </a:p>
        </p:txBody>
      </p:sp>
      <p:sp>
        <p:nvSpPr>
          <p:cNvPr id="12" name="Shape 10"/>
          <p:cNvSpPr/>
          <p:nvPr/>
        </p:nvSpPr>
        <p:spPr>
          <a:xfrm>
            <a:off x="4846320" y="196596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3" name="Text 11"/>
          <p:cNvSpPr/>
          <p:nvPr/>
        </p:nvSpPr>
        <p:spPr>
          <a:xfrm>
            <a:off x="4846320" y="1965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" sz="2000" noProof="0" dirty="0">
                <a:solidFill>
                  <a:srgbClr val="000000"/>
                </a:solidFill>
              </a:rPr>
              <a:t>🔐</a:t>
            </a:r>
            <a:endParaRPr lang="es-ES" sz="2000" noProof="0" dirty="0"/>
          </a:p>
        </p:txBody>
      </p:sp>
      <p:sp>
        <p:nvSpPr>
          <p:cNvPr id="14" name="Text 12"/>
          <p:cNvSpPr/>
          <p:nvPr/>
        </p:nvSpPr>
        <p:spPr>
          <a:xfrm>
            <a:off x="5394960" y="20116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300" noProof="0" dirty="0">
                <a:solidFill>
                  <a:srgbClr val="1E293B"/>
                </a:solidFill>
              </a:rPr>
              <a:t>Docker </a:t>
            </a:r>
            <a:r>
              <a:rPr lang="es-ES" sz="1300" noProof="0" dirty="0" err="1">
                <a:solidFill>
                  <a:srgbClr val="1E293B"/>
                </a:solidFill>
              </a:rPr>
              <a:t>secrets</a:t>
            </a:r>
            <a:r>
              <a:rPr lang="es-ES" sz="1300" noProof="0" dirty="0">
                <a:solidFill>
                  <a:srgbClr val="1E293B"/>
                </a:solidFill>
              </a:rPr>
              <a:t> para credenciales seguras</a:t>
            </a:r>
            <a:endParaRPr lang="es-ES" sz="1300" noProof="0" dirty="0"/>
          </a:p>
        </p:txBody>
      </p:sp>
      <p:sp>
        <p:nvSpPr>
          <p:cNvPr id="15" name="Shape 13"/>
          <p:cNvSpPr/>
          <p:nvPr/>
        </p:nvSpPr>
        <p:spPr>
          <a:xfrm>
            <a:off x="731520" y="265176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6" name="Text 14"/>
          <p:cNvSpPr/>
          <p:nvPr/>
        </p:nvSpPr>
        <p:spPr>
          <a:xfrm>
            <a:off x="731520" y="2651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" sz="2000" noProof="0" dirty="0">
                <a:solidFill>
                  <a:srgbClr val="000000"/>
                </a:solidFill>
              </a:rPr>
              <a:t>🤖</a:t>
            </a:r>
            <a:endParaRPr lang="es-ES" sz="2000" noProof="0" dirty="0"/>
          </a:p>
        </p:txBody>
      </p:sp>
      <p:sp>
        <p:nvSpPr>
          <p:cNvPr id="17" name="Text 15"/>
          <p:cNvSpPr/>
          <p:nvPr/>
        </p:nvSpPr>
        <p:spPr>
          <a:xfrm>
            <a:off x="1280160" y="26974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300" noProof="0" dirty="0">
                <a:solidFill>
                  <a:srgbClr val="1E293B"/>
                </a:solidFill>
              </a:rPr>
              <a:t>Machine </a:t>
            </a:r>
            <a:r>
              <a:rPr lang="es-ES" sz="1300" noProof="0" dirty="0" err="1">
                <a:solidFill>
                  <a:srgbClr val="1E293B"/>
                </a:solidFill>
              </a:rPr>
              <a:t>Learning</a:t>
            </a:r>
            <a:r>
              <a:rPr lang="es-ES" sz="1300" noProof="0" dirty="0">
                <a:solidFill>
                  <a:srgbClr val="1E293B"/>
                </a:solidFill>
              </a:rPr>
              <a:t> para anomalías</a:t>
            </a:r>
            <a:endParaRPr lang="es-ES" sz="1300" noProof="0" dirty="0"/>
          </a:p>
        </p:txBody>
      </p:sp>
      <p:sp>
        <p:nvSpPr>
          <p:cNvPr id="18" name="Shape 16"/>
          <p:cNvSpPr/>
          <p:nvPr/>
        </p:nvSpPr>
        <p:spPr>
          <a:xfrm>
            <a:off x="4846320" y="265176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9" name="Text 17"/>
          <p:cNvSpPr/>
          <p:nvPr/>
        </p:nvSpPr>
        <p:spPr>
          <a:xfrm>
            <a:off x="4846320" y="2651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" sz="2000" noProof="0" dirty="0">
                <a:solidFill>
                  <a:srgbClr val="000000"/>
                </a:solidFill>
              </a:rPr>
              <a:t>📱</a:t>
            </a:r>
            <a:endParaRPr lang="es-ES" sz="2000" noProof="0" dirty="0"/>
          </a:p>
        </p:txBody>
      </p:sp>
      <p:sp>
        <p:nvSpPr>
          <p:cNvPr id="20" name="Text 18"/>
          <p:cNvSpPr/>
          <p:nvPr/>
        </p:nvSpPr>
        <p:spPr>
          <a:xfrm>
            <a:off x="5394960" y="26974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300" noProof="0" dirty="0">
                <a:solidFill>
                  <a:srgbClr val="1E293B"/>
                </a:solidFill>
              </a:rPr>
              <a:t>API REST para consultas externas</a:t>
            </a:r>
            <a:endParaRPr lang="es-ES" sz="1300" noProof="0" dirty="0"/>
          </a:p>
        </p:txBody>
      </p:sp>
      <p:sp>
        <p:nvSpPr>
          <p:cNvPr id="21" name="Shape 19"/>
          <p:cNvSpPr/>
          <p:nvPr/>
        </p:nvSpPr>
        <p:spPr>
          <a:xfrm>
            <a:off x="731520" y="333756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22" name="Text 20"/>
          <p:cNvSpPr/>
          <p:nvPr/>
        </p:nvSpPr>
        <p:spPr>
          <a:xfrm>
            <a:off x="731520" y="33375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" sz="2000" noProof="0" dirty="0">
                <a:solidFill>
                  <a:srgbClr val="000000"/>
                </a:solidFill>
              </a:rPr>
              <a:t>☁️</a:t>
            </a:r>
            <a:endParaRPr lang="es-ES" sz="2000" noProof="0" dirty="0"/>
          </a:p>
        </p:txBody>
      </p:sp>
      <p:sp>
        <p:nvSpPr>
          <p:cNvPr id="23" name="Text 21"/>
          <p:cNvSpPr/>
          <p:nvPr/>
        </p:nvSpPr>
        <p:spPr>
          <a:xfrm>
            <a:off x="1280160" y="33832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300" noProof="0" dirty="0">
                <a:solidFill>
                  <a:srgbClr val="1E293B"/>
                </a:solidFill>
              </a:rPr>
              <a:t>Despliegue en </a:t>
            </a:r>
            <a:r>
              <a:rPr lang="es-ES" sz="1300" noProof="0" dirty="0" err="1">
                <a:solidFill>
                  <a:srgbClr val="1E293B"/>
                </a:solidFill>
              </a:rPr>
              <a:t>cloud</a:t>
            </a:r>
            <a:r>
              <a:rPr lang="es-ES" sz="1300" noProof="0" dirty="0">
                <a:solidFill>
                  <a:srgbClr val="1E293B"/>
                </a:solidFill>
              </a:rPr>
              <a:t> (AWS/Azure)</a:t>
            </a:r>
            <a:endParaRPr lang="es-ES" sz="1300" noProof="0" dirty="0"/>
          </a:p>
        </p:txBody>
      </p:sp>
      <p:sp>
        <p:nvSpPr>
          <p:cNvPr id="24" name="Shape 22"/>
          <p:cNvSpPr/>
          <p:nvPr/>
        </p:nvSpPr>
        <p:spPr>
          <a:xfrm>
            <a:off x="4846320" y="333756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25" name="Text 23"/>
          <p:cNvSpPr/>
          <p:nvPr/>
        </p:nvSpPr>
        <p:spPr>
          <a:xfrm>
            <a:off x="4846320" y="33375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" sz="2000" noProof="0" dirty="0">
                <a:solidFill>
                  <a:srgbClr val="000000"/>
                </a:solidFill>
              </a:rPr>
              <a:t>🔄</a:t>
            </a:r>
            <a:endParaRPr lang="es-ES" sz="2000" noProof="0" dirty="0"/>
          </a:p>
        </p:txBody>
      </p:sp>
      <p:sp>
        <p:nvSpPr>
          <p:cNvPr id="26" name="Text 24"/>
          <p:cNvSpPr/>
          <p:nvPr/>
        </p:nvSpPr>
        <p:spPr>
          <a:xfrm>
            <a:off x="5394960" y="33832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300" noProof="0" dirty="0">
                <a:solidFill>
                  <a:srgbClr val="1E293B"/>
                </a:solidFill>
              </a:rPr>
              <a:t>CI/CD con GitHub </a:t>
            </a:r>
            <a:r>
              <a:rPr lang="es-ES" sz="1300" noProof="0" dirty="0" err="1">
                <a:solidFill>
                  <a:srgbClr val="1E293B"/>
                </a:solidFill>
              </a:rPr>
              <a:t>Actions</a:t>
            </a:r>
            <a:endParaRPr lang="es-ES" sz="1300" noProof="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3600" b="1" noProof="0" dirty="0">
                <a:solidFill>
                  <a:srgbClr val="1E293B"/>
                </a:solidFill>
              </a:rPr>
              <a:t>Conclusiones</a:t>
            </a:r>
            <a:endParaRPr lang="es-ES" sz="3600" noProof="0" dirty="0"/>
          </a:p>
        </p:txBody>
      </p:sp>
      <p:sp>
        <p:nvSpPr>
          <p:cNvPr id="3" name="Shape 1"/>
          <p:cNvSpPr/>
          <p:nvPr/>
        </p:nvSpPr>
        <p:spPr>
          <a:xfrm>
            <a:off x="73152" y="1280160"/>
            <a:ext cx="73152" cy="41148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7680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400" noProof="0" dirty="0">
                <a:solidFill>
                  <a:srgbClr val="1E293B"/>
                </a:solidFill>
              </a:rPr>
              <a:t>1. Docker </a:t>
            </a:r>
            <a:r>
              <a:rPr lang="es-ES" sz="1400" noProof="0" dirty="0" err="1">
                <a:solidFill>
                  <a:srgbClr val="1E293B"/>
                </a:solidFill>
              </a:rPr>
              <a:t>Compose</a:t>
            </a:r>
            <a:r>
              <a:rPr lang="es-ES" sz="1400" noProof="0" dirty="0">
                <a:solidFill>
                  <a:srgbClr val="1E293B"/>
                </a:solidFill>
              </a:rPr>
              <a:t> permite desplegar sistemas complejos de forma reproducible y portable</a:t>
            </a:r>
            <a:endParaRPr lang="es-ES" sz="1400" noProof="0" dirty="0"/>
          </a:p>
        </p:txBody>
      </p:sp>
      <p:sp>
        <p:nvSpPr>
          <p:cNvPr id="5" name="Shape 3"/>
          <p:cNvSpPr/>
          <p:nvPr/>
        </p:nvSpPr>
        <p:spPr>
          <a:xfrm>
            <a:off x="73152" y="1874520"/>
            <a:ext cx="73152" cy="41148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6" name="Text 4"/>
          <p:cNvSpPr/>
          <p:nvPr/>
        </p:nvSpPr>
        <p:spPr>
          <a:xfrm>
            <a:off x="731520" y="1874520"/>
            <a:ext cx="7680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400" noProof="0" dirty="0">
                <a:solidFill>
                  <a:srgbClr val="1E293B"/>
                </a:solidFill>
              </a:rPr>
              <a:t>2. El uso de </a:t>
            </a:r>
            <a:r>
              <a:rPr lang="es-ES" sz="1400" noProof="0" dirty="0" err="1">
                <a:solidFill>
                  <a:srgbClr val="1E293B"/>
                </a:solidFill>
              </a:rPr>
              <a:t>provisioning</a:t>
            </a:r>
            <a:r>
              <a:rPr lang="es-ES" sz="1400" noProof="0" dirty="0">
                <a:solidFill>
                  <a:srgbClr val="1E293B"/>
                </a:solidFill>
              </a:rPr>
              <a:t> automatiza la configuración y elimina errores manuales</a:t>
            </a:r>
            <a:endParaRPr lang="es-ES" sz="1400" noProof="0" dirty="0"/>
          </a:p>
        </p:txBody>
      </p:sp>
      <p:sp>
        <p:nvSpPr>
          <p:cNvPr id="7" name="Shape 5"/>
          <p:cNvSpPr/>
          <p:nvPr/>
        </p:nvSpPr>
        <p:spPr>
          <a:xfrm>
            <a:off x="73152" y="2468880"/>
            <a:ext cx="73152" cy="41148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8" name="Text 6"/>
          <p:cNvSpPr/>
          <p:nvPr/>
        </p:nvSpPr>
        <p:spPr>
          <a:xfrm>
            <a:off x="731520" y="2468880"/>
            <a:ext cx="7680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400" noProof="0" dirty="0">
                <a:solidFill>
                  <a:srgbClr val="1E293B"/>
                </a:solidFill>
              </a:rPr>
              <a:t>3. </a:t>
            </a:r>
            <a:r>
              <a:rPr lang="es-ES" sz="1400" noProof="0" dirty="0" err="1">
                <a:solidFill>
                  <a:srgbClr val="1E293B"/>
                </a:solidFill>
              </a:rPr>
              <a:t>InfluxDB</a:t>
            </a:r>
            <a:r>
              <a:rPr lang="es-ES" sz="1400" noProof="0" dirty="0">
                <a:solidFill>
                  <a:srgbClr val="1E293B"/>
                </a:solidFill>
              </a:rPr>
              <a:t> es ideal para </a:t>
            </a:r>
            <a:r>
              <a:rPr lang="es-ES" sz="1400" noProof="0" dirty="0" err="1">
                <a:solidFill>
                  <a:srgbClr val="1E293B"/>
                </a:solidFill>
              </a:rPr>
              <a:t>IoT</a:t>
            </a:r>
            <a:r>
              <a:rPr lang="es-ES" sz="1400" noProof="0" dirty="0">
                <a:solidFill>
                  <a:srgbClr val="1E293B"/>
                </a:solidFill>
              </a:rPr>
              <a:t> por su optimización para series temporales</a:t>
            </a:r>
            <a:endParaRPr lang="es-ES" sz="1400" noProof="0" dirty="0"/>
          </a:p>
        </p:txBody>
      </p:sp>
      <p:sp>
        <p:nvSpPr>
          <p:cNvPr id="9" name="Shape 7"/>
          <p:cNvSpPr/>
          <p:nvPr/>
        </p:nvSpPr>
        <p:spPr>
          <a:xfrm>
            <a:off x="73152" y="3063240"/>
            <a:ext cx="73152" cy="41148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0" name="Text 8"/>
          <p:cNvSpPr/>
          <p:nvPr/>
        </p:nvSpPr>
        <p:spPr>
          <a:xfrm>
            <a:off x="731520" y="3063240"/>
            <a:ext cx="7680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400" noProof="0" dirty="0">
                <a:solidFill>
                  <a:srgbClr val="1E293B"/>
                </a:solidFill>
              </a:rPr>
              <a:t>4. La persistencia de datos requiere correcta configuración de volúmenes</a:t>
            </a:r>
            <a:endParaRPr lang="es-ES" sz="1400" noProof="0" dirty="0"/>
          </a:p>
        </p:txBody>
      </p:sp>
      <p:sp>
        <p:nvSpPr>
          <p:cNvPr id="11" name="Shape 9"/>
          <p:cNvSpPr/>
          <p:nvPr/>
        </p:nvSpPr>
        <p:spPr>
          <a:xfrm>
            <a:off x="73152" y="3657600"/>
            <a:ext cx="73152" cy="41148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2" name="Text 10"/>
          <p:cNvSpPr/>
          <p:nvPr/>
        </p:nvSpPr>
        <p:spPr>
          <a:xfrm>
            <a:off x="731520" y="3657600"/>
            <a:ext cx="7680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400" noProof="0" dirty="0">
                <a:solidFill>
                  <a:srgbClr val="1E293B"/>
                </a:solidFill>
              </a:rPr>
              <a:t>5. El </a:t>
            </a:r>
            <a:r>
              <a:rPr lang="es-ES" sz="1400" noProof="0" dirty="0" err="1">
                <a:solidFill>
                  <a:srgbClr val="1E293B"/>
                </a:solidFill>
              </a:rPr>
              <a:t>debugging</a:t>
            </a:r>
            <a:r>
              <a:rPr lang="es-ES" sz="1400" noProof="0" dirty="0">
                <a:solidFill>
                  <a:srgbClr val="1E293B"/>
                </a:solidFill>
              </a:rPr>
              <a:t> sistemático es clave: cada problema tiene una solución documentable</a:t>
            </a:r>
            <a:endParaRPr lang="es-ES" sz="1400" noProof="0" dirty="0"/>
          </a:p>
        </p:txBody>
      </p:sp>
      <p:sp>
        <p:nvSpPr>
          <p:cNvPr id="13" name="Shape 11"/>
          <p:cNvSpPr/>
          <p:nvPr/>
        </p:nvSpPr>
        <p:spPr>
          <a:xfrm>
            <a:off x="73152" y="4251960"/>
            <a:ext cx="73152" cy="41148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4" name="Text 12"/>
          <p:cNvSpPr/>
          <p:nvPr/>
        </p:nvSpPr>
        <p:spPr>
          <a:xfrm>
            <a:off x="731520" y="4251960"/>
            <a:ext cx="7680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400" noProof="0" dirty="0">
                <a:solidFill>
                  <a:srgbClr val="1E293B"/>
                </a:solidFill>
              </a:rPr>
              <a:t>6. La arquitectura de microservicios facilita el escalado y mantenimiento</a:t>
            </a:r>
            <a:endParaRPr lang="es-ES" sz="1400" noProof="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" sz="5400" b="1" noProof="0" dirty="0">
                <a:solidFill>
                  <a:srgbClr val="02C39A"/>
                </a:solidFill>
              </a:rPr>
              <a:t>¡GRACIAS!</a:t>
            </a:r>
            <a:endParaRPr lang="es-ES" sz="5400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22860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" sz="2800" noProof="0" dirty="0">
                <a:solidFill>
                  <a:srgbClr val="F8FAFC"/>
                </a:solidFill>
              </a:rPr>
              <a:t>¿Preguntas?</a:t>
            </a:r>
            <a:endParaRPr lang="es-ES" sz="2800" noProof="0" dirty="0"/>
          </a:p>
        </p:txBody>
      </p:sp>
      <p:sp>
        <p:nvSpPr>
          <p:cNvPr id="5" name="Text 3"/>
          <p:cNvSpPr/>
          <p:nvPr/>
        </p:nvSpPr>
        <p:spPr>
          <a:xfrm>
            <a:off x="1828800" y="33375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" sz="1600" b="1" noProof="0" dirty="0">
                <a:solidFill>
                  <a:srgbClr val="FFFFFF"/>
                </a:solidFill>
              </a:rPr>
              <a:t> Proyecto completo en GitHub</a:t>
            </a:r>
            <a:endParaRPr lang="es-ES" sz="1600" noProof="0" dirty="0"/>
          </a:p>
        </p:txBody>
      </p:sp>
      <p:sp>
        <p:nvSpPr>
          <p:cNvPr id="6" name="Text 4"/>
          <p:cNvSpPr/>
          <p:nvPr/>
        </p:nvSpPr>
        <p:spPr>
          <a:xfrm>
            <a:off x="1828800" y="370332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" sz="1200" noProof="0" dirty="0">
                <a:solidFill>
                  <a:srgbClr val="D1FAE5"/>
                </a:solidFill>
              </a:rPr>
              <a:t>Incluye: Código • Documentación • Configuración</a:t>
            </a:r>
            <a:endParaRPr lang="es-ES" sz="1200" noProof="0" dirty="0"/>
          </a:p>
        </p:txBody>
      </p:sp>
      <p:sp>
        <p:nvSpPr>
          <p:cNvPr id="7" name="Text 5"/>
          <p:cNvSpPr/>
          <p:nvPr/>
        </p:nvSpPr>
        <p:spPr>
          <a:xfrm>
            <a:off x="1828800" y="402336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" sz="1300" i="1" noProof="0" dirty="0" err="1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</a:t>
            </a:r>
            <a:r>
              <a:rPr lang="es-ES" sz="1300" i="1" noProof="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s-ES" sz="1300" i="1" noProof="0" dirty="0" err="1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compose</a:t>
            </a:r>
            <a:r>
              <a:rPr lang="es-ES" sz="1300" i="1" noProof="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up → Sistema funcionando</a:t>
            </a:r>
            <a:endParaRPr lang="es-ES" sz="1300" noProof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</TotalTime>
  <Words>1035</Words>
  <Application>Microsoft Office PowerPoint</Application>
  <PresentationFormat>Presentación en pantalla (16:9)</PresentationFormat>
  <Paragraphs>232</Paragraphs>
  <Slides>16</Slides>
  <Notes>16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19" baseType="lpstr">
      <vt:lpstr>Arial</vt:lpstr>
      <vt:lpstr>Courier New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Simulador de Sensores IoT con Docker - Proceso Completo</dc:title>
  <dc:subject>PptxGenJS Presentation</dc:subject>
  <dc:creator>Estudiante IoT</dc:creator>
  <cp:lastModifiedBy>OCHOA CEREZO, JON</cp:lastModifiedBy>
  <cp:revision>5</cp:revision>
  <dcterms:created xsi:type="dcterms:W3CDTF">2026-02-18T19:15:06Z</dcterms:created>
  <dcterms:modified xsi:type="dcterms:W3CDTF">2026-02-19T08:45:00Z</dcterms:modified>
</cp:coreProperties>
</file>