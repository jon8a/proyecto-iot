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101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4800" b="1" noProof="0" dirty="0" err="1">
                <a:solidFill>
                  <a:srgbClr val="F8FAFC"/>
                </a:solidFill>
              </a:rPr>
              <a:t>IoT</a:t>
            </a:r>
            <a:r>
              <a:rPr lang="es-ES" sz="4800" b="1" noProof="0">
                <a:solidFill>
                  <a:srgbClr val="F8FAFC"/>
                </a:solidFill>
              </a:rPr>
              <a:t> - Captación</a:t>
            </a:r>
            <a:endParaRPr lang="es-ES" sz="48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200" noProof="0" dirty="0">
                <a:solidFill>
                  <a:srgbClr val="02C39A"/>
                </a:solidFill>
              </a:rPr>
              <a:t>Proceso Completo: De la Idea a la Implementación</a:t>
            </a:r>
            <a:endParaRPr lang="es-ES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noProof="0" dirty="0">
                <a:solidFill>
                  <a:srgbClr val="64748B"/>
                </a:solidFill>
              </a:rPr>
              <a:t>Captura de Datos con Docker </a:t>
            </a:r>
            <a:r>
              <a:rPr lang="es-ES" sz="1600" noProof="0" dirty="0" err="1">
                <a:solidFill>
                  <a:srgbClr val="64748B"/>
                </a:solidFill>
              </a:rPr>
              <a:t>Compose</a:t>
            </a:r>
            <a:endParaRPr lang="es-ES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noProof="0" dirty="0">
                <a:solidFill>
                  <a:srgbClr val="64748B"/>
                </a:solidFill>
              </a:rPr>
              <a:t>Desarrollo de Aplicaciones para </a:t>
            </a:r>
            <a:r>
              <a:rPr lang="es-ES" sz="1200" noProof="0" dirty="0" err="1">
                <a:solidFill>
                  <a:srgbClr val="64748B"/>
                </a:solidFill>
              </a:rPr>
              <a:t>IoT</a:t>
            </a:r>
            <a:r>
              <a:rPr lang="es-ES" sz="1200" noProof="0" dirty="0">
                <a:solidFill>
                  <a:srgbClr val="64748B"/>
                </a:solidFill>
              </a:rPr>
              <a:t> </a:t>
            </a:r>
            <a:endParaRPr lang="es-ES" sz="1200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0BCF4B-2A30-CCB5-65C3-4E499B79B049}"/>
              </a:ext>
            </a:extLst>
          </p:cNvPr>
          <p:cNvSpPr/>
          <p:nvPr/>
        </p:nvSpPr>
        <p:spPr>
          <a:xfrm>
            <a:off x="1828800" y="3703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noProof="0" dirty="0">
                <a:solidFill>
                  <a:srgbClr val="D1FAE5"/>
                </a:solidFill>
              </a:rPr>
              <a:t>Jon Ochoa, Oier </a:t>
            </a:r>
            <a:r>
              <a:rPr lang="es-ES" sz="1200" noProof="0" dirty="0" err="1">
                <a:solidFill>
                  <a:srgbClr val="D1FAE5"/>
                </a:solidFill>
              </a:rPr>
              <a:t>Martinez</a:t>
            </a:r>
            <a:endParaRPr lang="es-ES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Recorrido del Proyecto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1</a:t>
            </a:r>
            <a:endParaRPr lang="es-ES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noProof="0" dirty="0">
                <a:solidFill>
                  <a:srgbClr val="1E293B"/>
                </a:solidFill>
              </a:rPr>
              <a:t>El Reto y la Solución Propuesta</a:t>
            </a:r>
            <a:endParaRPr lang="es-ES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2</a:t>
            </a:r>
            <a:endParaRPr lang="es-E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noProof="0" dirty="0">
                <a:solidFill>
                  <a:srgbClr val="1E293B"/>
                </a:solidFill>
              </a:rPr>
              <a:t>Arquitectura del Sistema</a:t>
            </a:r>
            <a:endParaRPr lang="es-ES" sz="1600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3</a:t>
            </a:r>
            <a:endParaRPr lang="es-E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463040" y="2331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noProof="0" dirty="0">
                <a:solidFill>
                  <a:srgbClr val="1E293B"/>
                </a:solidFill>
              </a:rPr>
              <a:t>Configuración del Entorno</a:t>
            </a:r>
            <a:endParaRPr lang="es-ES" sz="1600" noProof="0" dirty="0"/>
          </a:p>
        </p:txBody>
      </p:sp>
      <p:sp>
        <p:nvSpPr>
          <p:cNvPr id="12" name="Shape 10"/>
          <p:cNvSpPr/>
          <p:nvPr/>
        </p:nvSpPr>
        <p:spPr>
          <a:xfrm>
            <a:off x="914400" y="27889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4</a:t>
            </a:r>
            <a:endParaRPr lang="es-E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1463040" y="2834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noProof="0" dirty="0">
                <a:solidFill>
                  <a:srgbClr val="1E293B"/>
                </a:solidFill>
              </a:rPr>
              <a:t>Implementación Paso a Paso</a:t>
            </a:r>
            <a:endParaRPr lang="es-ES" sz="1600" noProof="0" dirty="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5</a:t>
            </a:r>
            <a:endParaRPr lang="es-ES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3337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noProof="0" dirty="0">
                <a:solidFill>
                  <a:srgbClr val="1E293B"/>
                </a:solidFill>
              </a:rPr>
              <a:t>Problemas Encontrados y Soluciones</a:t>
            </a:r>
            <a:endParaRPr lang="es-ES" sz="1600" noProof="0" dirty="0"/>
          </a:p>
        </p:txBody>
      </p:sp>
      <p:sp>
        <p:nvSpPr>
          <p:cNvPr id="18" name="Shape 16"/>
          <p:cNvSpPr/>
          <p:nvPr/>
        </p:nvSpPr>
        <p:spPr>
          <a:xfrm>
            <a:off x="914400" y="37947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Text 17"/>
          <p:cNvSpPr/>
          <p:nvPr/>
        </p:nvSpPr>
        <p:spPr>
          <a:xfrm>
            <a:off x="9144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6</a:t>
            </a:r>
            <a:endParaRPr lang="es-ES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noProof="0" dirty="0">
                <a:solidFill>
                  <a:srgbClr val="1E293B"/>
                </a:solidFill>
              </a:rPr>
              <a:t>Resultados y Demo</a:t>
            </a:r>
            <a:endParaRPr lang="es-ES" sz="1600" noProof="0" dirty="0"/>
          </a:p>
        </p:txBody>
      </p:sp>
      <p:sp>
        <p:nvSpPr>
          <p:cNvPr id="21" name="Shape 19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20"/>
          <p:cNvSpPr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7</a:t>
            </a:r>
            <a:endParaRPr lang="es-ES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1463040" y="4343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noProof="0" dirty="0">
                <a:solidFill>
                  <a:srgbClr val="1E293B"/>
                </a:solidFill>
              </a:rPr>
              <a:t>Mejoras Futuras</a:t>
            </a:r>
            <a:endParaRPr lang="es-ES" sz="16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El Reto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</a:rPr>
              <a:t>📝 Enunciado: Montar en Docker </a:t>
            </a:r>
            <a:r>
              <a:rPr lang="es-ES" sz="1400" b="1" noProof="0" dirty="0" err="1">
                <a:solidFill>
                  <a:srgbClr val="FFFFFF"/>
                </a:solidFill>
              </a:rPr>
              <a:t>Compose</a:t>
            </a:r>
            <a:r>
              <a:rPr lang="es-ES" sz="1400" b="1" noProof="0" dirty="0">
                <a:solidFill>
                  <a:srgbClr val="FFFFFF"/>
                </a:solidFill>
              </a:rPr>
              <a:t> una tecnología que permita enviar datos simulados a otro contenedor que se encargue de almacenarlos y comprobar que se han guardado apropiadamente.</a:t>
            </a:r>
            <a:endParaRPr lang="es-ES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000000"/>
                </a:solidFill>
              </a:rPr>
              <a:t>📊</a:t>
            </a:r>
            <a:endParaRPr lang="es-E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1554480" y="2176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028090"/>
                </a:solidFill>
              </a:rPr>
              <a:t>Captura de Datos</a:t>
            </a:r>
            <a:endParaRPr lang="es-E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393192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64748B"/>
                </a:solidFill>
              </a:rPr>
              <a:t>Simular un sensor </a:t>
            </a:r>
            <a:r>
              <a:rPr lang="es-ES" sz="1300" noProof="0" dirty="0" err="1">
                <a:solidFill>
                  <a:srgbClr val="64748B"/>
                </a:solidFill>
              </a:rPr>
              <a:t>IoT</a:t>
            </a:r>
            <a:r>
              <a:rPr lang="es-ES" sz="1300" noProof="0" dirty="0">
                <a:solidFill>
                  <a:srgbClr val="64748B"/>
                </a:solidFill>
              </a:rPr>
              <a:t> que genere datos realistas</a:t>
            </a:r>
            <a:endParaRPr lang="es-ES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000000"/>
                </a:solidFill>
              </a:rPr>
              <a:t>💾</a:t>
            </a:r>
            <a:endParaRPr lang="es-ES" sz="2800" noProof="0" dirty="0"/>
          </a:p>
        </p:txBody>
      </p:sp>
      <p:sp>
        <p:nvSpPr>
          <p:cNvPr id="11" name="Text 9"/>
          <p:cNvSpPr/>
          <p:nvPr/>
        </p:nvSpPr>
        <p:spPr>
          <a:xfrm>
            <a:off x="155448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028090"/>
                </a:solidFill>
              </a:rPr>
              <a:t>Almacenamiento</a:t>
            </a:r>
            <a:endParaRPr lang="es-ES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393192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64748B"/>
                </a:solidFill>
              </a:rPr>
              <a:t>Guardar datos de forma eficiente y persistente</a:t>
            </a:r>
            <a:endParaRPr lang="es-ES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000000"/>
                </a:solidFill>
              </a:rPr>
              <a:t>📈</a:t>
            </a:r>
            <a:endParaRPr lang="es-ES" sz="2800" noProof="0" dirty="0"/>
          </a:p>
        </p:txBody>
      </p:sp>
      <p:sp>
        <p:nvSpPr>
          <p:cNvPr id="15" name="Text 13"/>
          <p:cNvSpPr/>
          <p:nvPr/>
        </p:nvSpPr>
        <p:spPr>
          <a:xfrm>
            <a:off x="155448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028090"/>
                </a:solidFill>
              </a:rPr>
              <a:t>Visualización</a:t>
            </a:r>
            <a:endParaRPr lang="es-E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393192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64748B"/>
                </a:solidFill>
              </a:rPr>
              <a:t>Mostrar los datos en tiempo real</a:t>
            </a:r>
            <a:endParaRPr lang="es-ES" sz="13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Arquitectura de la Solución</a:t>
            </a:r>
            <a:endParaRPr lang="es-ES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i="1" noProof="0" dirty="0">
                <a:solidFill>
                  <a:srgbClr val="64748B"/>
                </a:solidFill>
              </a:rPr>
              <a:t>Sistema de 3 contenedores comunicándose por red virtual</a:t>
            </a:r>
            <a:endParaRPr lang="es-ES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" y="1554480"/>
            <a:ext cx="2286000" cy="1280160"/>
          </a:xfrm>
          <a:prstGeom prst="rect">
            <a:avLst/>
          </a:prstGeom>
          <a:solidFill>
            <a:srgbClr val="028090"/>
          </a:solidFill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4572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4000" noProof="0" dirty="0">
                <a:solidFill>
                  <a:srgbClr val="000000"/>
                </a:solidFill>
              </a:rPr>
              <a:t>🐍</a:t>
            </a:r>
            <a:endParaRPr lang="es-ES" sz="4000" noProof="0" dirty="0"/>
          </a:p>
        </p:txBody>
      </p:sp>
      <p:sp>
        <p:nvSpPr>
          <p:cNvPr id="6" name="Text 4"/>
          <p:cNvSpPr/>
          <p:nvPr/>
        </p:nvSpPr>
        <p:spPr>
          <a:xfrm>
            <a:off x="4572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</a:rPr>
              <a:t>SENSOR</a:t>
            </a:r>
            <a:endParaRPr lang="es-ES" sz="1400" noProof="0" dirty="0"/>
          </a:p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</a:rPr>
              <a:t>Python 3.12</a:t>
            </a:r>
            <a:endParaRPr lang="es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0070C0"/>
                </a:solidFill>
              </a:rPr>
              <a:t>• Genera datos</a:t>
            </a:r>
          </a:p>
          <a:p>
            <a:pPr marL="0" indent="0" algn="ctr">
              <a:buNone/>
            </a:pPr>
            <a:r>
              <a:rPr lang="es-ES" sz="1000" noProof="0" dirty="0">
                <a:solidFill>
                  <a:srgbClr val="0070C0"/>
                </a:solidFill>
              </a:rPr>
              <a:t>• Cada 5 segundos</a:t>
            </a:r>
          </a:p>
          <a:p>
            <a:pPr marL="0" indent="0" algn="ctr">
              <a:buNone/>
            </a:pPr>
            <a:r>
              <a:rPr lang="es-ES" sz="1000" noProof="0" dirty="0">
                <a:solidFill>
                  <a:srgbClr val="0070C0"/>
                </a:solidFill>
              </a:rPr>
              <a:t>• HTTP POST</a:t>
            </a:r>
          </a:p>
        </p:txBody>
      </p:sp>
      <p:sp>
        <p:nvSpPr>
          <p:cNvPr id="8" name="Shape 6"/>
          <p:cNvSpPr/>
          <p:nvPr/>
        </p:nvSpPr>
        <p:spPr>
          <a:xfrm>
            <a:off x="2423160" y="2103120"/>
            <a:ext cx="914400" cy="36576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2514600" y="18288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900" noProof="0" dirty="0">
                <a:solidFill>
                  <a:srgbClr val="64748B"/>
                </a:solidFill>
              </a:rPr>
              <a:t>influxdb:8086</a:t>
            </a:r>
            <a:endParaRPr lang="es-ES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3429000" y="1554480"/>
            <a:ext cx="2286000" cy="1280160"/>
          </a:xfrm>
          <a:prstGeom prst="rect">
            <a:avLst/>
          </a:prstGeom>
          <a:solidFill>
            <a:srgbClr val="00A896"/>
          </a:solidFill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4000" noProof="0" dirty="0">
                <a:solidFill>
                  <a:srgbClr val="000000"/>
                </a:solidFill>
              </a:rPr>
              <a:t>💾</a:t>
            </a:r>
            <a:endParaRPr lang="es-ES" sz="4000" noProof="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</a:rPr>
              <a:t>INFLUXDB</a:t>
            </a:r>
            <a:endParaRPr lang="es-ES" sz="1400" noProof="0" dirty="0"/>
          </a:p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</a:rPr>
              <a:t>v2.7</a:t>
            </a:r>
            <a:endParaRPr lang="es-ES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34290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0070C0"/>
                </a:solidFill>
              </a:rPr>
              <a:t>• Base de datos</a:t>
            </a:r>
          </a:p>
          <a:p>
            <a:pPr marL="0" indent="0" algn="ctr">
              <a:buNone/>
            </a:pPr>
            <a:r>
              <a:rPr lang="es-ES" sz="1000" noProof="0" dirty="0">
                <a:solidFill>
                  <a:srgbClr val="0070C0"/>
                </a:solidFill>
              </a:rPr>
              <a:t>• Series temporales</a:t>
            </a:r>
          </a:p>
          <a:p>
            <a:pPr marL="0" indent="0" algn="ctr">
              <a:buNone/>
            </a:pPr>
            <a:r>
              <a:rPr lang="es-ES" sz="1000" noProof="0" dirty="0">
                <a:solidFill>
                  <a:srgbClr val="0070C0"/>
                </a:solidFill>
              </a:rPr>
              <a:t>• Volumen persistente</a:t>
            </a:r>
          </a:p>
        </p:txBody>
      </p:sp>
      <p:sp>
        <p:nvSpPr>
          <p:cNvPr id="14" name="Shape 12"/>
          <p:cNvSpPr/>
          <p:nvPr/>
        </p:nvSpPr>
        <p:spPr>
          <a:xfrm>
            <a:off x="5806440" y="2103120"/>
            <a:ext cx="914400" cy="365760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Text 13"/>
          <p:cNvSpPr/>
          <p:nvPr/>
        </p:nvSpPr>
        <p:spPr>
          <a:xfrm>
            <a:off x="5897880" y="18288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900" noProof="0" dirty="0">
                <a:solidFill>
                  <a:srgbClr val="64748B"/>
                </a:solidFill>
              </a:rPr>
              <a:t>Flux </a:t>
            </a:r>
            <a:r>
              <a:rPr lang="es-ES" sz="900" noProof="0" dirty="0" err="1">
                <a:solidFill>
                  <a:srgbClr val="64748B"/>
                </a:solidFill>
              </a:rPr>
              <a:t>Query</a:t>
            </a:r>
            <a:endParaRPr lang="es-ES" sz="900" noProof="0" dirty="0"/>
          </a:p>
        </p:txBody>
      </p:sp>
      <p:sp>
        <p:nvSpPr>
          <p:cNvPr id="16" name="Shape 14"/>
          <p:cNvSpPr/>
          <p:nvPr/>
        </p:nvSpPr>
        <p:spPr>
          <a:xfrm>
            <a:off x="6812280" y="1554480"/>
            <a:ext cx="2286000" cy="1280160"/>
          </a:xfrm>
          <a:prstGeom prst="rect">
            <a:avLst/>
          </a:prstGeom>
          <a:solidFill>
            <a:srgbClr val="02C39A"/>
          </a:solidFill>
          <a:ln w="254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 15"/>
          <p:cNvSpPr/>
          <p:nvPr/>
        </p:nvSpPr>
        <p:spPr>
          <a:xfrm>
            <a:off x="681228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4000" noProof="0" dirty="0">
                <a:solidFill>
                  <a:srgbClr val="000000"/>
                </a:solidFill>
              </a:rPr>
              <a:t>📊</a:t>
            </a:r>
            <a:endParaRPr lang="es-ES" sz="4000" noProof="0" dirty="0"/>
          </a:p>
        </p:txBody>
      </p:sp>
      <p:sp>
        <p:nvSpPr>
          <p:cNvPr id="18" name="Text 16"/>
          <p:cNvSpPr/>
          <p:nvPr/>
        </p:nvSpPr>
        <p:spPr>
          <a:xfrm>
            <a:off x="681228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</a:rPr>
              <a:t>GRAFANA</a:t>
            </a:r>
            <a:endParaRPr lang="es-ES" sz="1400" noProof="0" dirty="0"/>
          </a:p>
          <a:p>
            <a:pPr marL="0" indent="0" algn="ctr">
              <a:buNone/>
            </a:pPr>
            <a:r>
              <a:rPr lang="es-ES" sz="1400" b="1" noProof="0" dirty="0" err="1">
                <a:solidFill>
                  <a:srgbClr val="FFFFFF"/>
                </a:solidFill>
              </a:rPr>
              <a:t>Dashboard</a:t>
            </a:r>
            <a:endParaRPr lang="es-ES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681228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0070C0"/>
                </a:solidFill>
              </a:rPr>
              <a:t>• Visualización</a:t>
            </a:r>
          </a:p>
          <a:p>
            <a:pPr marL="0" indent="0" algn="ctr">
              <a:buNone/>
            </a:pPr>
            <a:r>
              <a:rPr lang="es-ES" sz="1000" noProof="0" dirty="0">
                <a:solidFill>
                  <a:srgbClr val="0070C0"/>
                </a:solidFill>
              </a:rPr>
              <a:t>• Tiempo real</a:t>
            </a:r>
          </a:p>
          <a:p>
            <a:pPr marL="0" indent="0" algn="ctr">
              <a:buNone/>
            </a:pPr>
            <a:r>
              <a:rPr lang="es-ES" sz="1000" noProof="0" dirty="0">
                <a:solidFill>
                  <a:srgbClr val="0070C0"/>
                </a:solidFill>
              </a:rPr>
              <a:t>• </a:t>
            </a:r>
            <a:r>
              <a:rPr lang="es-ES" sz="1000" noProof="0" dirty="0" err="1">
                <a:solidFill>
                  <a:srgbClr val="0070C0"/>
                </a:solidFill>
              </a:rPr>
              <a:t>Auto-refresh</a:t>
            </a:r>
            <a:r>
              <a:rPr lang="es-ES" sz="1000" noProof="0" dirty="0">
                <a:solidFill>
                  <a:srgbClr val="0070C0"/>
                </a:solidFill>
              </a:rPr>
              <a:t> 5s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02C39A"/>
                </a:solidFill>
              </a:rPr>
              <a:t>🌐 Red Docker: </a:t>
            </a:r>
            <a:r>
              <a:rPr lang="es-ES" sz="1400" b="1" noProof="0" dirty="0" err="1">
                <a:solidFill>
                  <a:srgbClr val="02C39A"/>
                </a:solidFill>
              </a:rPr>
              <a:t>iot_network</a:t>
            </a:r>
            <a:r>
              <a:rPr lang="es-ES" sz="1400" b="1" noProof="0" dirty="0">
                <a:solidFill>
                  <a:srgbClr val="02C39A"/>
                </a:solidFill>
              </a:rPr>
              <a:t> (Bridge)</a:t>
            </a:r>
            <a:endParaRPr lang="es-ES" sz="14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Paso 1: Preparar el Entorno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865216" y="1325880"/>
            <a:ext cx="46412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b="1" noProof="0" dirty="0">
                <a:solidFill>
                  <a:srgbClr val="FFFFFF"/>
                </a:solidFill>
              </a:rPr>
              <a:t>1.1</a:t>
            </a:r>
            <a:endParaRPr lang="es-ES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1463040" y="1353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1E293B"/>
                </a:solidFill>
              </a:rPr>
              <a:t>Verificar Docker</a:t>
            </a:r>
            <a:endParaRPr lang="es-ES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1463040" y="1691640"/>
            <a:ext cx="27432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s-ES" sz="800" noProof="0" dirty="0"/>
          </a:p>
          <a:p>
            <a:pPr marL="0" indent="0">
              <a:lnSpc>
                <a:spcPts val="1000"/>
              </a:lnSpc>
              <a:buNone/>
            </a:pP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s-ES" sz="800" noProof="0" dirty="0"/>
          </a:p>
        </p:txBody>
      </p:sp>
      <p:sp>
        <p:nvSpPr>
          <p:cNvPr id="9" name="Text 7"/>
          <p:cNvSpPr/>
          <p:nvPr/>
        </p:nvSpPr>
        <p:spPr>
          <a:xfrm>
            <a:off x="438912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Comprobar que Docker está instalado y funcionando</a:t>
            </a:r>
            <a:endParaRPr lang="es-ES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24231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914399" y="2423160"/>
            <a:ext cx="4149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b="1" noProof="0" dirty="0">
                <a:solidFill>
                  <a:srgbClr val="FFFFFF"/>
                </a:solidFill>
              </a:rPr>
              <a:t>1.2</a:t>
            </a:r>
            <a:endParaRPr lang="es-ES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1E293B"/>
                </a:solidFill>
              </a:rPr>
              <a:t>Crear estructura</a:t>
            </a:r>
            <a:endParaRPr lang="es-ES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1463040" y="2788920"/>
            <a:ext cx="27432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Text 13"/>
          <p:cNvSpPr/>
          <p:nvPr/>
        </p:nvSpPr>
        <p:spPr>
          <a:xfrm>
            <a:off x="155448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proyecto-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s-ES" sz="800" noProof="0" dirty="0"/>
          </a:p>
          <a:p>
            <a:pPr marL="0" indent="0">
              <a:lnSpc>
                <a:spcPts val="1000"/>
              </a:lnSpc>
              <a:buNone/>
            </a:pP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proyecto-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s-ES" sz="800" noProof="0" dirty="0"/>
          </a:p>
          <a:p>
            <a:pPr marL="0" indent="0">
              <a:lnSpc>
                <a:spcPts val="1000"/>
              </a:lnSpc>
              <a:buNone/>
            </a:pP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sensor</a:t>
            </a:r>
            <a:endParaRPr lang="es-ES" sz="800" noProof="0" dirty="0"/>
          </a:p>
        </p:txBody>
      </p:sp>
      <p:sp>
        <p:nvSpPr>
          <p:cNvPr id="16" name="Text 14"/>
          <p:cNvSpPr/>
          <p:nvPr/>
        </p:nvSpPr>
        <p:spPr>
          <a:xfrm>
            <a:off x="4389120" y="2651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Crear carpetas del proyecto</a:t>
            </a:r>
            <a:endParaRPr lang="es-ES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Shape 16"/>
          <p:cNvSpPr/>
          <p:nvPr/>
        </p:nvSpPr>
        <p:spPr>
          <a:xfrm>
            <a:off x="914400" y="3520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Text 17"/>
          <p:cNvSpPr/>
          <p:nvPr/>
        </p:nvSpPr>
        <p:spPr>
          <a:xfrm>
            <a:off x="889807" y="3547872"/>
            <a:ext cx="414943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b="1" noProof="0" dirty="0">
                <a:solidFill>
                  <a:srgbClr val="FFFFFF"/>
                </a:solidFill>
              </a:rPr>
              <a:t>1.3</a:t>
            </a:r>
            <a:endParaRPr lang="es-ES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146304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1E293B"/>
                </a:solidFill>
              </a:rPr>
              <a:t>Inicializar Git</a:t>
            </a:r>
            <a:endParaRPr lang="es-ES" sz="1400" noProof="0" dirty="0"/>
          </a:p>
        </p:txBody>
      </p:sp>
      <p:sp>
        <p:nvSpPr>
          <p:cNvPr id="21" name="Shape 19"/>
          <p:cNvSpPr/>
          <p:nvPr/>
        </p:nvSpPr>
        <p:spPr>
          <a:xfrm>
            <a:off x="1463040" y="3886200"/>
            <a:ext cx="27432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20"/>
          <p:cNvSpPr/>
          <p:nvPr/>
        </p:nvSpPr>
        <p:spPr>
          <a:xfrm>
            <a:off x="155448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s-ES" sz="800" noProof="0" dirty="0"/>
          </a:p>
          <a:p>
            <a:pPr marL="0" indent="0">
              <a:lnSpc>
                <a:spcPts val="1000"/>
              </a:lnSpc>
              <a:buNone/>
            </a:pP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remote 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8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r>
              <a:rPr lang="es-ES" sz="8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[URL]</a:t>
            </a:r>
            <a:endParaRPr lang="es-ES" sz="800" noProof="0" dirty="0"/>
          </a:p>
        </p:txBody>
      </p:sp>
      <p:sp>
        <p:nvSpPr>
          <p:cNvPr id="23" name="Text 21"/>
          <p:cNvSpPr/>
          <p:nvPr/>
        </p:nvSpPr>
        <p:spPr>
          <a:xfrm>
            <a:off x="438912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Preparar repositorio para control de versiones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Paso 2: </a:t>
            </a:r>
            <a:r>
              <a:rPr lang="es-ES" sz="3600" b="1" noProof="0" dirty="0" err="1">
                <a:solidFill>
                  <a:srgbClr val="1E293B"/>
                </a:solidFill>
              </a:rPr>
              <a:t>docker-compose.yml</a:t>
            </a:r>
            <a:endParaRPr lang="es-ES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i="1" noProof="0" dirty="0">
                <a:solidFill>
                  <a:srgbClr val="64748B"/>
                </a:solidFill>
              </a:rPr>
              <a:t>Archivo maestro que orquesta los 3 contenedores</a:t>
            </a:r>
            <a:endParaRPr lang="es-ES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731520" y="1253836"/>
            <a:ext cx="7830589" cy="3664528"/>
          </a:xfrm>
          <a:prstGeom prst="rect">
            <a:avLst/>
          </a:prstGeom>
          <a:solidFill>
            <a:srgbClr val="1E293B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'3.8'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         # Base de datos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influxdb:2.7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['8086:8086']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influxdb_data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/influxdb2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DOCKER_INFLUXDB_INIT_TOKEN=...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sensor:                       # Simulador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./sensor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           # Visualización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grafana:latest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['3000:3000']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./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provisioning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provisioning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s-ES" sz="9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ES" sz="9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influxdb_data</a:t>
            </a:r>
            <a:r>
              <a:rPr lang="es-ES" sz="9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     # Persistencia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Paso 3: Simulador de Sensor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028090"/>
                </a:solidFill>
              </a:rPr>
              <a:t>📄 </a:t>
            </a:r>
            <a:r>
              <a:rPr lang="es-ES" sz="1200" b="1" noProof="0" dirty="0" err="1">
                <a:solidFill>
                  <a:srgbClr val="028090"/>
                </a:solidFill>
              </a:rPr>
              <a:t>Dockerfile</a:t>
            </a:r>
            <a:endParaRPr lang="es-ES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283464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</a:rPr>
              <a:t>Define la imagen del contenedor</a:t>
            </a:r>
            <a:endParaRPr lang="es-ES" sz="1000" noProof="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028090"/>
                </a:solidFill>
              </a:rPr>
              <a:t>📄 requirements.txt</a:t>
            </a:r>
            <a:endParaRPr lang="es-ES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283464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</a:rPr>
              <a:t>Dependencias Python</a:t>
            </a:r>
            <a:endParaRPr lang="es-ES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028090"/>
                </a:solidFill>
              </a:rPr>
              <a:t>📄 sensor_simulator.py</a:t>
            </a:r>
            <a:endParaRPr lang="es-ES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283464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</a:rPr>
              <a:t>Código del simulador</a:t>
            </a:r>
            <a:endParaRPr lang="es-ES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1E293B"/>
                </a:solidFill>
              </a:rPr>
              <a:t>sensor_simulator.py (simplificado):</a:t>
            </a:r>
            <a:endParaRPr lang="es-ES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influxdb_client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InfluxDBClient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Point</a:t>
            </a:r>
            <a:endParaRPr lang="es-ES" sz="10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time,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endParaRPr lang="es-ES" sz="1000" noProof="0" dirty="0"/>
          </a:p>
          <a:p>
            <a:pPr marL="0" indent="0">
              <a:lnSpc>
                <a:spcPts val="1200"/>
              </a:lnSpc>
              <a:buNone/>
            </a:pPr>
            <a:endParaRPr lang="es-ES" sz="10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InfluxDBClient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='http://influxdb:8086', ...)</a:t>
            </a:r>
            <a:endParaRPr lang="es-ES" sz="1000" noProof="0" dirty="0"/>
          </a:p>
          <a:p>
            <a:pPr marL="0" indent="0">
              <a:lnSpc>
                <a:spcPts val="1200"/>
              </a:lnSpc>
              <a:buNone/>
            </a:pPr>
            <a:endParaRPr lang="es-ES" sz="10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True:</a:t>
            </a:r>
            <a:endParaRPr lang="es-ES" sz="10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temperatura =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random.uniform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(18, 30)</a:t>
            </a:r>
            <a:endParaRPr lang="es-ES" sz="10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Point('mediciones').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('temperatura',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ES" sz="10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write_api.write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='sensores',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ES" sz="1000" noProof="0" dirty="0"/>
          </a:p>
          <a:p>
            <a:pPr marL="0" indent="0">
              <a:lnSpc>
                <a:spcPts val="12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time.sleep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  # Esperar 5 segundos</a:t>
            </a:r>
            <a:endParaRPr lang="es-ES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Paso 4: Arrancar el Sistema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b="1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r>
              <a:rPr lang="es-ES" sz="28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2800" b="1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</a:t>
            </a:r>
            <a:r>
              <a:rPr lang="es-ES" sz="28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 --</a:t>
            </a:r>
            <a:r>
              <a:rPr lang="es-ES" sz="2800" b="1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s-ES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1E293B"/>
                </a:solidFill>
              </a:rPr>
              <a:t>Este comando:</a:t>
            </a:r>
            <a:endParaRPr lang="es-ES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1. Construye la imagen del sensor desde el </a:t>
            </a:r>
            <a:r>
              <a:rPr lang="es-ES" sz="1300" noProof="0" dirty="0" err="1">
                <a:solidFill>
                  <a:srgbClr val="1E293B"/>
                </a:solidFill>
              </a:rPr>
              <a:t>Dockerfile</a:t>
            </a:r>
            <a:endParaRPr lang="es-ES" sz="1300" noProof="0" dirty="0"/>
          </a:p>
          <a:p>
            <a:pPr marL="0" indent="0">
              <a:lnSpc>
                <a:spcPts val="1800"/>
              </a:lnSpc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2. Descarga las imágenes de </a:t>
            </a:r>
            <a:r>
              <a:rPr lang="es-ES" sz="1300" noProof="0" dirty="0" err="1">
                <a:solidFill>
                  <a:srgbClr val="1E293B"/>
                </a:solidFill>
              </a:rPr>
              <a:t>InfluxDB</a:t>
            </a:r>
            <a:r>
              <a:rPr lang="es-ES" sz="1300" noProof="0" dirty="0">
                <a:solidFill>
                  <a:srgbClr val="1E293B"/>
                </a:solidFill>
              </a:rPr>
              <a:t> y </a:t>
            </a:r>
            <a:r>
              <a:rPr lang="es-ES" sz="1300" noProof="0" dirty="0" err="1">
                <a:solidFill>
                  <a:srgbClr val="1E293B"/>
                </a:solidFill>
              </a:rPr>
              <a:t>Grafana</a:t>
            </a:r>
            <a:endParaRPr lang="es-ES" sz="1300" noProof="0" dirty="0"/>
          </a:p>
          <a:p>
            <a:pPr marL="0" indent="0">
              <a:lnSpc>
                <a:spcPts val="1800"/>
              </a:lnSpc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3. Crea la red virtual '</a:t>
            </a:r>
            <a:r>
              <a:rPr lang="es-ES" sz="1300" noProof="0" dirty="0" err="1">
                <a:solidFill>
                  <a:srgbClr val="1E293B"/>
                </a:solidFill>
              </a:rPr>
              <a:t>iot_network</a:t>
            </a:r>
            <a:r>
              <a:rPr lang="es-ES" sz="1300" noProof="0" dirty="0">
                <a:solidFill>
                  <a:srgbClr val="1E293B"/>
                </a:solidFill>
              </a:rPr>
              <a:t>'</a:t>
            </a:r>
            <a:endParaRPr lang="es-ES" sz="1300" noProof="0" dirty="0"/>
          </a:p>
          <a:p>
            <a:pPr marL="0" indent="0">
              <a:lnSpc>
                <a:spcPts val="1800"/>
              </a:lnSpc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4. Crea los volúmenes para persistencia</a:t>
            </a:r>
            <a:endParaRPr lang="es-ES" sz="1300" noProof="0" dirty="0"/>
          </a:p>
          <a:p>
            <a:pPr marL="0" indent="0">
              <a:lnSpc>
                <a:spcPts val="1800"/>
              </a:lnSpc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5. Arranca los 3 contenedores en orden (</a:t>
            </a:r>
            <a:r>
              <a:rPr lang="es-ES" sz="1300" noProof="0" dirty="0" err="1">
                <a:solidFill>
                  <a:srgbClr val="1E293B"/>
                </a:solidFill>
              </a:rPr>
              <a:t>depends_on</a:t>
            </a:r>
            <a:r>
              <a:rPr lang="es-ES" sz="1300" noProof="0" dirty="0">
                <a:solidFill>
                  <a:srgbClr val="1E293B"/>
                </a:solidFill>
              </a:rPr>
              <a:t>)</a:t>
            </a:r>
            <a:endParaRPr lang="es-ES" sz="1300" noProof="0" dirty="0"/>
          </a:p>
          <a:p>
            <a:pPr marL="0" indent="0">
              <a:lnSpc>
                <a:spcPts val="1800"/>
              </a:lnSpc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6. Muestra los logs en tiempo real</a:t>
            </a:r>
            <a:endParaRPr lang="es-E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10B981"/>
                </a:solidFill>
              </a:rPr>
              <a:t>✅ Output esperado:</a:t>
            </a:r>
            <a:endParaRPr lang="es-ES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sensor_simulator</a:t>
            </a:r>
            <a:r>
              <a:rPr lang="es-ES" sz="1000" noProof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📊 [14:30:05] Medición #1 | 🌡️ 24.3°C | ✅ Enviado</a:t>
            </a:r>
            <a:endParaRPr lang="es-ES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Paso 5: Configurar </a:t>
            </a:r>
            <a:r>
              <a:rPr lang="es-ES" sz="3600" b="1" noProof="0" dirty="0" err="1">
                <a:solidFill>
                  <a:srgbClr val="1E293B"/>
                </a:solidFill>
              </a:rPr>
              <a:t>Grafana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261872"/>
            <a:ext cx="4572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2618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b="1" noProof="0" dirty="0">
                <a:solidFill>
                  <a:srgbClr val="FFFFFF"/>
                </a:solidFill>
              </a:rPr>
              <a:t>5.1</a:t>
            </a:r>
            <a:endParaRPr lang="es-ES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1554480" y="12618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Acceder</a:t>
            </a:r>
            <a:endParaRPr lang="es-E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i="1" noProof="0" dirty="0">
                <a:solidFill>
                  <a:srgbClr val="64748B"/>
                </a:solidFill>
              </a:rPr>
              <a:t>http://localhost:3000</a:t>
            </a:r>
            <a:endParaRPr lang="es-ES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028090"/>
                </a:solidFill>
              </a:rPr>
              <a:t>admin</a:t>
            </a:r>
            <a:r>
              <a:rPr lang="es-ES" sz="1000" noProof="0" dirty="0">
                <a:solidFill>
                  <a:srgbClr val="028090"/>
                </a:solidFill>
              </a:rPr>
              <a:t> / </a:t>
            </a:r>
            <a:r>
              <a:rPr lang="es-ES" sz="1000" noProof="0" dirty="0" err="1">
                <a:solidFill>
                  <a:srgbClr val="028090"/>
                </a:solidFill>
              </a:rPr>
              <a:t>admin</a:t>
            </a:r>
            <a:endParaRPr lang="es-ES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Shape 8"/>
          <p:cNvSpPr/>
          <p:nvPr/>
        </p:nvSpPr>
        <p:spPr>
          <a:xfrm>
            <a:off x="914400" y="1947672"/>
            <a:ext cx="4572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1947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b="1" noProof="0" dirty="0">
                <a:solidFill>
                  <a:srgbClr val="FFFFFF"/>
                </a:solidFill>
              </a:rPr>
              <a:t>5.2</a:t>
            </a:r>
            <a:endParaRPr lang="es-ES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1554480" y="1947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Añadir Data </a:t>
            </a:r>
            <a:r>
              <a:rPr lang="es-ES" sz="1300" b="1" noProof="0" dirty="0" err="1">
                <a:solidFill>
                  <a:srgbClr val="1E293B"/>
                </a:solidFill>
              </a:rPr>
              <a:t>Source</a:t>
            </a:r>
            <a:endParaRPr lang="es-ES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1554480" y="2148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i="1" noProof="0" dirty="0" err="1">
                <a:solidFill>
                  <a:srgbClr val="64748B"/>
                </a:solidFill>
              </a:rPr>
              <a:t>InfluxDB</a:t>
            </a:r>
            <a:r>
              <a:rPr lang="es-ES" sz="1100" i="1" noProof="0" dirty="0">
                <a:solidFill>
                  <a:srgbClr val="64748B"/>
                </a:solidFill>
              </a:rPr>
              <a:t> → Flux</a:t>
            </a:r>
            <a:endParaRPr lang="es-ES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028090"/>
                </a:solidFill>
              </a:rPr>
              <a:t>URL: http://influxdb:8086</a:t>
            </a:r>
            <a:endParaRPr lang="es-ES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Shape 14"/>
          <p:cNvSpPr/>
          <p:nvPr/>
        </p:nvSpPr>
        <p:spPr>
          <a:xfrm>
            <a:off x="914400" y="2633472"/>
            <a:ext cx="4572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" y="26334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b="1" noProof="0" dirty="0">
                <a:solidFill>
                  <a:srgbClr val="FFFFFF"/>
                </a:solidFill>
              </a:rPr>
              <a:t>5.3</a:t>
            </a:r>
            <a:endParaRPr lang="es-ES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1554480" y="26334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Configurar conexión</a:t>
            </a:r>
            <a:endParaRPr lang="es-ES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1554480" y="2834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i="1" noProof="0" dirty="0" err="1">
                <a:solidFill>
                  <a:srgbClr val="64748B"/>
                </a:solidFill>
              </a:rPr>
              <a:t>Organization</a:t>
            </a:r>
            <a:r>
              <a:rPr lang="es-ES" sz="1100" i="1" noProof="0" dirty="0">
                <a:solidFill>
                  <a:srgbClr val="64748B"/>
                </a:solidFill>
              </a:rPr>
              <a:t>: </a:t>
            </a:r>
            <a:r>
              <a:rPr lang="es-ES" sz="1100" i="1" noProof="0" dirty="0" err="1">
                <a:solidFill>
                  <a:srgbClr val="64748B"/>
                </a:solidFill>
              </a:rPr>
              <a:t>mi_empresa</a:t>
            </a:r>
            <a:endParaRPr lang="es-ES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028090"/>
                </a:solidFill>
              </a:rPr>
              <a:t>Token + </a:t>
            </a:r>
            <a:r>
              <a:rPr lang="es-ES" sz="1000" noProof="0" dirty="0" err="1">
                <a:solidFill>
                  <a:srgbClr val="028090"/>
                </a:solidFill>
              </a:rPr>
              <a:t>Bucket</a:t>
            </a:r>
            <a:endParaRPr lang="es-ES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Shape 20"/>
          <p:cNvSpPr/>
          <p:nvPr/>
        </p:nvSpPr>
        <p:spPr>
          <a:xfrm>
            <a:off x="914400" y="3319272"/>
            <a:ext cx="4572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3" name="Text 21"/>
          <p:cNvSpPr/>
          <p:nvPr/>
        </p:nvSpPr>
        <p:spPr>
          <a:xfrm>
            <a:off x="914400" y="3319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b="1" noProof="0" dirty="0">
                <a:solidFill>
                  <a:srgbClr val="FFFFFF"/>
                </a:solidFill>
              </a:rPr>
              <a:t>5.4</a:t>
            </a:r>
            <a:endParaRPr lang="es-ES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1554480" y="3319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Crear </a:t>
            </a:r>
            <a:r>
              <a:rPr lang="es-ES" sz="1300" b="1" noProof="0" dirty="0" err="1">
                <a:solidFill>
                  <a:srgbClr val="1E293B"/>
                </a:solidFill>
              </a:rPr>
              <a:t>Dashboard</a:t>
            </a:r>
            <a:endParaRPr lang="es-ES" sz="1300" noProof="0" dirty="0"/>
          </a:p>
        </p:txBody>
      </p:sp>
      <p:sp>
        <p:nvSpPr>
          <p:cNvPr id="25" name="Text 23"/>
          <p:cNvSpPr/>
          <p:nvPr/>
        </p:nvSpPr>
        <p:spPr>
          <a:xfrm>
            <a:off x="1554480" y="35204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i="1" noProof="0" dirty="0" err="1">
                <a:solidFill>
                  <a:srgbClr val="64748B"/>
                </a:solidFill>
              </a:rPr>
              <a:t>Add</a:t>
            </a:r>
            <a:r>
              <a:rPr lang="es-ES" sz="1100" i="1" noProof="0" dirty="0">
                <a:solidFill>
                  <a:srgbClr val="64748B"/>
                </a:solidFill>
              </a:rPr>
              <a:t> </a:t>
            </a:r>
            <a:r>
              <a:rPr lang="es-ES" sz="1100" i="1" noProof="0" dirty="0" err="1">
                <a:solidFill>
                  <a:srgbClr val="64748B"/>
                </a:solidFill>
              </a:rPr>
              <a:t>visualization</a:t>
            </a:r>
            <a:endParaRPr lang="es-ES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457200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028090"/>
                </a:solidFill>
              </a:rPr>
              <a:t>3 paneles: </a:t>
            </a:r>
            <a:r>
              <a:rPr lang="es-ES" sz="1000" noProof="0" dirty="0" err="1">
                <a:solidFill>
                  <a:srgbClr val="028090"/>
                </a:solidFill>
              </a:rPr>
              <a:t>Temp</a:t>
            </a:r>
            <a:r>
              <a:rPr lang="es-ES" sz="1000" noProof="0" dirty="0">
                <a:solidFill>
                  <a:srgbClr val="028090"/>
                </a:solidFill>
              </a:rPr>
              <a:t>, Humedad, Presión</a:t>
            </a:r>
            <a:endParaRPr lang="es-ES" sz="1000" noProof="0" dirty="0"/>
          </a:p>
        </p:txBody>
      </p:sp>
      <p:sp>
        <p:nvSpPr>
          <p:cNvPr id="27" name="Shape 25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8" name="Shape 26"/>
          <p:cNvSpPr/>
          <p:nvPr/>
        </p:nvSpPr>
        <p:spPr>
          <a:xfrm>
            <a:off x="914400" y="4005072"/>
            <a:ext cx="4572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Text 27"/>
          <p:cNvSpPr/>
          <p:nvPr/>
        </p:nvSpPr>
        <p:spPr>
          <a:xfrm>
            <a:off x="914400" y="40050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b="1" noProof="0" dirty="0">
                <a:solidFill>
                  <a:srgbClr val="FFFFFF"/>
                </a:solidFill>
              </a:rPr>
              <a:t>5.5</a:t>
            </a:r>
            <a:endParaRPr lang="es-ES" sz="1200" noProof="0" dirty="0"/>
          </a:p>
        </p:txBody>
      </p:sp>
      <p:sp>
        <p:nvSpPr>
          <p:cNvPr id="30" name="Text 28"/>
          <p:cNvSpPr/>
          <p:nvPr/>
        </p:nvSpPr>
        <p:spPr>
          <a:xfrm>
            <a:off x="1554480" y="40050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Flux </a:t>
            </a:r>
            <a:r>
              <a:rPr lang="es-ES" sz="1300" b="1" noProof="0" dirty="0" err="1">
                <a:solidFill>
                  <a:srgbClr val="1E293B"/>
                </a:solidFill>
              </a:rPr>
              <a:t>Query</a:t>
            </a:r>
            <a:endParaRPr lang="es-ES" sz="1300" noProof="0" dirty="0"/>
          </a:p>
        </p:txBody>
      </p:sp>
      <p:sp>
        <p:nvSpPr>
          <p:cNvPr id="31" name="Text 29"/>
          <p:cNvSpPr/>
          <p:nvPr/>
        </p:nvSpPr>
        <p:spPr>
          <a:xfrm>
            <a:off x="1554480" y="42062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i="1" noProof="0" dirty="0" err="1">
                <a:solidFill>
                  <a:srgbClr val="64748B"/>
                </a:solidFill>
              </a:rPr>
              <a:t>from</a:t>
            </a:r>
            <a:r>
              <a:rPr lang="es-ES" sz="1100" i="1" noProof="0" dirty="0">
                <a:solidFill>
                  <a:srgbClr val="64748B"/>
                </a:solidFill>
              </a:rPr>
              <a:t>(</a:t>
            </a:r>
            <a:r>
              <a:rPr lang="es-ES" sz="1100" i="1" noProof="0" dirty="0" err="1">
                <a:solidFill>
                  <a:srgbClr val="64748B"/>
                </a:solidFill>
              </a:rPr>
              <a:t>bucket</a:t>
            </a:r>
            <a:r>
              <a:rPr lang="es-ES" sz="1100" i="1" noProof="0" dirty="0">
                <a:solidFill>
                  <a:srgbClr val="64748B"/>
                </a:solidFill>
              </a:rPr>
              <a:t>: 'sensores')</a:t>
            </a:r>
            <a:endParaRPr lang="es-ES" sz="1100" noProof="0" dirty="0"/>
          </a:p>
        </p:txBody>
      </p:sp>
      <p:sp>
        <p:nvSpPr>
          <p:cNvPr id="32" name="Text 30"/>
          <p:cNvSpPr/>
          <p:nvPr/>
        </p:nvSpPr>
        <p:spPr>
          <a:xfrm>
            <a:off x="4572000" y="4069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028090"/>
                </a:solidFill>
              </a:rPr>
              <a:t>|&gt; </a:t>
            </a:r>
            <a:r>
              <a:rPr lang="es-ES" sz="1000" noProof="0" dirty="0" err="1">
                <a:solidFill>
                  <a:srgbClr val="028090"/>
                </a:solidFill>
              </a:rPr>
              <a:t>range</a:t>
            </a:r>
            <a:r>
              <a:rPr lang="es-ES" sz="1000" noProof="0" dirty="0">
                <a:solidFill>
                  <a:srgbClr val="028090"/>
                </a:solidFill>
              </a:rPr>
              <a:t>(</a:t>
            </a:r>
            <a:r>
              <a:rPr lang="es-ES" sz="1000" noProof="0" dirty="0" err="1">
                <a:solidFill>
                  <a:srgbClr val="028090"/>
                </a:solidFill>
              </a:rPr>
              <a:t>start</a:t>
            </a:r>
            <a:r>
              <a:rPr lang="es-ES" sz="1000" noProof="0" dirty="0">
                <a:solidFill>
                  <a:srgbClr val="028090"/>
                </a:solidFill>
              </a:rPr>
              <a:t>: -1h)</a:t>
            </a:r>
            <a:endParaRPr lang="es-ES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🐛 Problemas Encontrados (1/2)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1</a:t>
            </a:r>
            <a:endParaRPr lang="es-ES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146304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❌ Sensor arranca antes que </a:t>
            </a:r>
            <a:r>
              <a:rPr lang="es-ES" sz="1300" b="1" noProof="0" dirty="0" err="1">
                <a:solidFill>
                  <a:srgbClr val="1E293B"/>
                </a:solidFill>
              </a:rPr>
              <a:t>InfluxDB</a:t>
            </a:r>
            <a:endParaRPr lang="es-ES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1463040" y="1554480"/>
            <a:ext cx="64008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i="1" noProof="0" dirty="0">
                <a:solidFill>
                  <a:srgbClr val="F59E0B"/>
                </a:solidFill>
              </a:rPr>
              <a:t>⚠️ </a:t>
            </a:r>
            <a:r>
              <a:rPr lang="es-ES" sz="1100" i="1" noProof="0" dirty="0" err="1">
                <a:solidFill>
                  <a:srgbClr val="F59E0B"/>
                </a:solidFill>
              </a:rPr>
              <a:t>Connection</a:t>
            </a:r>
            <a:r>
              <a:rPr lang="es-ES" sz="1100" i="1" noProof="0" dirty="0">
                <a:solidFill>
                  <a:srgbClr val="F59E0B"/>
                </a:solidFill>
              </a:rPr>
              <a:t> </a:t>
            </a:r>
            <a:r>
              <a:rPr lang="es-ES" sz="1100" i="1" noProof="0" dirty="0" err="1">
                <a:solidFill>
                  <a:srgbClr val="F59E0B"/>
                </a:solidFill>
              </a:rPr>
              <a:t>refused</a:t>
            </a:r>
            <a:endParaRPr lang="es-ES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10B981"/>
                </a:solidFill>
              </a:rPr>
              <a:t>✅ </a:t>
            </a:r>
            <a:r>
              <a:rPr lang="es-ES" sz="1100" noProof="0" dirty="0" err="1">
                <a:solidFill>
                  <a:srgbClr val="10B981"/>
                </a:solidFill>
              </a:rPr>
              <a:t>depends_on</a:t>
            </a:r>
            <a:r>
              <a:rPr lang="es-ES" sz="1100" noProof="0" dirty="0">
                <a:solidFill>
                  <a:srgbClr val="10B981"/>
                </a:solidFill>
              </a:rPr>
              <a:t> + </a:t>
            </a:r>
            <a:r>
              <a:rPr lang="es-ES" sz="1100" noProof="0" dirty="0" err="1">
                <a:solidFill>
                  <a:srgbClr val="10B981"/>
                </a:solidFill>
              </a:rPr>
              <a:t>time.sleep</a:t>
            </a:r>
            <a:r>
              <a:rPr lang="es-ES" sz="1100" noProof="0" dirty="0">
                <a:solidFill>
                  <a:srgbClr val="10B981"/>
                </a:solidFill>
              </a:rPr>
              <a:t>(10) + </a:t>
            </a:r>
            <a:r>
              <a:rPr lang="es-ES" sz="1100" noProof="0" dirty="0" err="1">
                <a:solidFill>
                  <a:srgbClr val="10B981"/>
                </a:solidFill>
              </a:rPr>
              <a:t>retry</a:t>
            </a:r>
            <a:r>
              <a:rPr lang="es-ES" sz="1100" noProof="0" dirty="0">
                <a:solidFill>
                  <a:srgbClr val="10B981"/>
                </a:solidFill>
              </a:rPr>
              <a:t> </a:t>
            </a:r>
            <a:r>
              <a:rPr lang="es-ES" sz="1100" noProof="0" dirty="0" err="1">
                <a:solidFill>
                  <a:srgbClr val="10B981"/>
                </a:solidFill>
              </a:rPr>
              <a:t>logic</a:t>
            </a:r>
            <a:endParaRPr lang="es-ES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2</a:t>
            </a:r>
            <a:endParaRPr lang="es-ES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24505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❌ Error '</a:t>
            </a:r>
            <a:r>
              <a:rPr lang="es-ES" sz="1300" b="1" noProof="0" dirty="0" err="1">
                <a:solidFill>
                  <a:srgbClr val="1E293B"/>
                </a:solidFill>
              </a:rPr>
              <a:t>unauthorized</a:t>
            </a:r>
            <a:r>
              <a:rPr lang="es-ES" sz="1300" b="1" noProof="0" dirty="0">
                <a:solidFill>
                  <a:srgbClr val="1E293B"/>
                </a:solidFill>
              </a:rPr>
              <a:t> </a:t>
            </a:r>
            <a:r>
              <a:rPr lang="es-ES" sz="1300" b="1" noProof="0" dirty="0" err="1">
                <a:solidFill>
                  <a:srgbClr val="1E293B"/>
                </a:solidFill>
              </a:rPr>
              <a:t>access</a:t>
            </a:r>
            <a:r>
              <a:rPr lang="es-ES" sz="1300" b="1" noProof="0" dirty="0">
                <a:solidFill>
                  <a:srgbClr val="1E293B"/>
                </a:solidFill>
              </a:rPr>
              <a:t>' en </a:t>
            </a:r>
            <a:r>
              <a:rPr lang="es-ES" sz="1300" b="1" noProof="0" dirty="0" err="1">
                <a:solidFill>
                  <a:srgbClr val="1E293B"/>
                </a:solidFill>
              </a:rPr>
              <a:t>Grafana</a:t>
            </a:r>
            <a:endParaRPr lang="es-ES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1463040" y="2743200"/>
            <a:ext cx="64008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Text 13"/>
          <p:cNvSpPr/>
          <p:nvPr/>
        </p:nvSpPr>
        <p:spPr>
          <a:xfrm>
            <a:off x="1554480" y="278892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i="1" noProof="0" dirty="0">
                <a:solidFill>
                  <a:srgbClr val="F59E0B"/>
                </a:solidFill>
              </a:rPr>
              <a:t>⚠️ </a:t>
            </a:r>
            <a:r>
              <a:rPr lang="es-ES" sz="1100" i="1" noProof="0" dirty="0" err="1">
                <a:solidFill>
                  <a:srgbClr val="F59E0B"/>
                </a:solidFill>
              </a:rPr>
              <a:t>InfluxDB</a:t>
            </a:r>
            <a:r>
              <a:rPr lang="es-ES" sz="1100" i="1" noProof="0" dirty="0">
                <a:solidFill>
                  <a:srgbClr val="F59E0B"/>
                </a:solidFill>
              </a:rPr>
              <a:t> </a:t>
            </a:r>
            <a:r>
              <a:rPr lang="es-ES" sz="1100" i="1" noProof="0" dirty="0" err="1">
                <a:solidFill>
                  <a:srgbClr val="F59E0B"/>
                </a:solidFill>
              </a:rPr>
              <a:t>returned</a:t>
            </a:r>
            <a:r>
              <a:rPr lang="es-ES" sz="1100" i="1" noProof="0" dirty="0">
                <a:solidFill>
                  <a:srgbClr val="F59E0B"/>
                </a:solidFill>
              </a:rPr>
              <a:t> error</a:t>
            </a:r>
            <a:endParaRPr lang="es-ES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10B981"/>
                </a:solidFill>
              </a:rPr>
              <a:t>✅ Cambiar de </a:t>
            </a:r>
            <a:r>
              <a:rPr lang="es-ES" sz="1100" noProof="0" dirty="0" err="1">
                <a:solidFill>
                  <a:srgbClr val="10B981"/>
                </a:solidFill>
              </a:rPr>
              <a:t>InfluxQL</a:t>
            </a:r>
            <a:r>
              <a:rPr lang="es-ES" sz="1100" noProof="0" dirty="0">
                <a:solidFill>
                  <a:srgbClr val="10B981"/>
                </a:solidFill>
              </a:rPr>
              <a:t> a Flux + verificar token correcto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🐛 Problemas Encontrados (2/2)</a:t>
            </a:r>
            <a:endParaRPr lang="es-ES" sz="3600" noProof="0" dirty="0"/>
          </a:p>
        </p:txBody>
      </p:sp>
      <p:sp>
        <p:nvSpPr>
          <p:cNvPr id="10" name="Shape 8"/>
          <p:cNvSpPr/>
          <p:nvPr/>
        </p:nvSpPr>
        <p:spPr>
          <a:xfrm>
            <a:off x="683029" y="1520190"/>
            <a:ext cx="76809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Shape 9"/>
          <p:cNvSpPr/>
          <p:nvPr/>
        </p:nvSpPr>
        <p:spPr>
          <a:xfrm>
            <a:off x="865909" y="161163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865909" y="161163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3</a:t>
            </a:r>
            <a:endParaRPr lang="es-ES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1414549" y="159334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❌ Solo muestra datos nuevos, no históricos</a:t>
            </a:r>
            <a:endParaRPr lang="es-ES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1414549" y="1885950"/>
            <a:ext cx="64008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Text 13"/>
          <p:cNvSpPr/>
          <p:nvPr/>
        </p:nvSpPr>
        <p:spPr>
          <a:xfrm>
            <a:off x="1505989" y="193167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i="1" noProof="0" dirty="0">
                <a:solidFill>
                  <a:srgbClr val="F59E0B"/>
                </a:solidFill>
              </a:rPr>
              <a:t>⚠️ Gráfica empieza desde cero cada vez</a:t>
            </a:r>
            <a:endParaRPr lang="es-ES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1414549" y="225171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10B981"/>
                </a:solidFill>
              </a:rPr>
              <a:t>✅ Volumen </a:t>
            </a:r>
            <a:r>
              <a:rPr lang="es-ES" sz="1100" noProof="0" dirty="0" err="1">
                <a:solidFill>
                  <a:srgbClr val="10B981"/>
                </a:solidFill>
              </a:rPr>
              <a:t>influxdb_data</a:t>
            </a:r>
            <a:r>
              <a:rPr lang="es-ES" sz="1100" noProof="0" dirty="0">
                <a:solidFill>
                  <a:srgbClr val="10B981"/>
                </a:solidFill>
              </a:rPr>
              <a:t> montado correctamente + verificar </a:t>
            </a:r>
            <a:r>
              <a:rPr lang="es-ES" sz="1100" noProof="0" dirty="0" err="1">
                <a:solidFill>
                  <a:srgbClr val="10B981"/>
                </a:solidFill>
              </a:rPr>
              <a:t>range</a:t>
            </a:r>
            <a:endParaRPr lang="es-ES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683029" y="2708910"/>
            <a:ext cx="76809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Shape 16"/>
          <p:cNvSpPr/>
          <p:nvPr/>
        </p:nvSpPr>
        <p:spPr>
          <a:xfrm>
            <a:off x="865909" y="280035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Text 17"/>
          <p:cNvSpPr/>
          <p:nvPr/>
        </p:nvSpPr>
        <p:spPr>
          <a:xfrm>
            <a:off x="865909" y="280035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4</a:t>
            </a:r>
            <a:endParaRPr lang="es-ES" sz="1600" noProof="0" dirty="0"/>
          </a:p>
        </p:txBody>
      </p:sp>
      <p:sp>
        <p:nvSpPr>
          <p:cNvPr id="20" name="Text 18"/>
          <p:cNvSpPr/>
          <p:nvPr/>
        </p:nvSpPr>
        <p:spPr>
          <a:xfrm>
            <a:off x="1414549" y="278206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❌ </a:t>
            </a:r>
            <a:r>
              <a:rPr lang="es-ES" sz="1300" b="1" noProof="0" dirty="0" err="1">
                <a:solidFill>
                  <a:srgbClr val="1E293B"/>
                </a:solidFill>
              </a:rPr>
              <a:t>Dashboard</a:t>
            </a:r>
            <a:r>
              <a:rPr lang="es-ES" sz="1300" b="1" noProof="0" dirty="0">
                <a:solidFill>
                  <a:srgbClr val="1E293B"/>
                </a:solidFill>
              </a:rPr>
              <a:t> no se guarda automáticamente</a:t>
            </a:r>
            <a:endParaRPr lang="es-ES" sz="1300" noProof="0" dirty="0"/>
          </a:p>
        </p:txBody>
      </p:sp>
      <p:sp>
        <p:nvSpPr>
          <p:cNvPr id="21" name="Shape 19"/>
          <p:cNvSpPr/>
          <p:nvPr/>
        </p:nvSpPr>
        <p:spPr>
          <a:xfrm>
            <a:off x="1414549" y="3074670"/>
            <a:ext cx="64008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20"/>
          <p:cNvSpPr/>
          <p:nvPr/>
        </p:nvSpPr>
        <p:spPr>
          <a:xfrm>
            <a:off x="1505989" y="312039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i="1" noProof="0" dirty="0">
                <a:solidFill>
                  <a:srgbClr val="F59E0B"/>
                </a:solidFill>
              </a:rPr>
              <a:t>⚠️ Configuración se pierde al recrear contenedor</a:t>
            </a:r>
            <a:endParaRPr lang="es-ES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1414549" y="344043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10B981"/>
                </a:solidFill>
              </a:rPr>
              <a:t>✅ </a:t>
            </a:r>
            <a:r>
              <a:rPr lang="es-ES" sz="1100" noProof="0" dirty="0" err="1">
                <a:solidFill>
                  <a:srgbClr val="10B981"/>
                </a:solidFill>
              </a:rPr>
              <a:t>Grafana</a:t>
            </a:r>
            <a:r>
              <a:rPr lang="es-ES" sz="1100" noProof="0" dirty="0">
                <a:solidFill>
                  <a:srgbClr val="10B981"/>
                </a:solidFill>
              </a:rPr>
              <a:t> </a:t>
            </a:r>
            <a:r>
              <a:rPr lang="es-ES" sz="1100" noProof="0" dirty="0" err="1">
                <a:solidFill>
                  <a:srgbClr val="10B981"/>
                </a:solidFill>
              </a:rPr>
              <a:t>Provisioning</a:t>
            </a:r>
            <a:r>
              <a:rPr lang="es-ES" sz="1100" noProof="0" dirty="0">
                <a:solidFill>
                  <a:srgbClr val="10B981"/>
                </a:solidFill>
              </a:rPr>
              <a:t> con </a:t>
            </a:r>
            <a:r>
              <a:rPr lang="es-ES" sz="1100" noProof="0" dirty="0" err="1">
                <a:solidFill>
                  <a:srgbClr val="10B981"/>
                </a:solidFill>
              </a:rPr>
              <a:t>dashboards</a:t>
            </a:r>
            <a:r>
              <a:rPr lang="es-ES" sz="1100" noProof="0" dirty="0">
                <a:solidFill>
                  <a:srgbClr val="10B981"/>
                </a:solidFill>
              </a:rPr>
              <a:t> como JSON + volúmenes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🎯 Solución Final: </a:t>
            </a:r>
            <a:r>
              <a:rPr lang="es-ES" sz="3600" b="1" noProof="0" dirty="0" err="1">
                <a:solidFill>
                  <a:srgbClr val="1E293B"/>
                </a:solidFill>
              </a:rPr>
              <a:t>Provisioning</a:t>
            </a:r>
            <a:endParaRPr lang="es-ES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proyecto-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📄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sensor/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sensor_simulator.py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requirements.txt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📁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📁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dashboards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iot-dashboard.json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📁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provisioning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dashboards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└──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dashboard.yml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datasources</a:t>
            </a: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s-ES" sz="1000" noProof="0" dirty="0"/>
          </a:p>
          <a:p>
            <a:pPr marL="0" indent="0">
              <a:lnSpc>
                <a:spcPts val="1400"/>
              </a:lnSpc>
              <a:buNone/>
            </a:pPr>
            <a:r>
              <a:rPr lang="es-ES" sz="1000" noProof="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└── </a:t>
            </a:r>
            <a:r>
              <a:rPr lang="es-ES" sz="1000" noProof="0" dirty="0" err="1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influxdb.yml</a:t>
            </a:r>
            <a:endParaRPr lang="es-ES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10B981"/>
                </a:solidFill>
              </a:rPr>
              <a:t>✅ Ventajas:</a:t>
            </a:r>
            <a:endParaRPr lang="es-ES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3657600" cy="36576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1E293B"/>
                </a:solidFill>
              </a:rPr>
              <a:t>✓ </a:t>
            </a:r>
            <a:r>
              <a:rPr lang="es-ES" sz="1200" noProof="0" dirty="0" err="1">
                <a:solidFill>
                  <a:srgbClr val="1E293B"/>
                </a:solidFill>
              </a:rPr>
              <a:t>Dashboard</a:t>
            </a:r>
            <a:r>
              <a:rPr lang="es-ES" sz="1200" noProof="0" dirty="0">
                <a:solidFill>
                  <a:srgbClr val="1E293B"/>
                </a:solidFill>
              </a:rPr>
              <a:t> se carga automáticamente</a:t>
            </a:r>
            <a:endParaRPr lang="es-ES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2205990"/>
            <a:ext cx="3657600" cy="36576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4937760" y="225171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1E293B"/>
                </a:solidFill>
              </a:rPr>
              <a:t>✓ Configuración versionada en Git</a:t>
            </a:r>
            <a:endParaRPr lang="es-ES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4754880" y="2663190"/>
            <a:ext cx="3657600" cy="36576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2"/>
          <p:cNvSpPr/>
          <p:nvPr/>
        </p:nvSpPr>
        <p:spPr>
          <a:xfrm>
            <a:off x="4937760" y="270891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1E293B"/>
                </a:solidFill>
              </a:rPr>
              <a:t>✓ Reproducible en cualquier máquina</a:t>
            </a:r>
            <a:endParaRPr lang="es-ES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4754880" y="3120390"/>
            <a:ext cx="3657600" cy="36576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4937760" y="316611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1E293B"/>
                </a:solidFill>
              </a:rPr>
              <a:t>✓ No requiere configuración manual</a:t>
            </a:r>
            <a:endParaRPr lang="es-ES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4754880" y="4206240"/>
            <a:ext cx="36576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8"/>
          <p:cNvSpPr/>
          <p:nvPr/>
        </p:nvSpPr>
        <p:spPr>
          <a:xfrm>
            <a:off x="475488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800" b="1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r>
              <a:rPr lang="es-ES" sz="18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1800" b="1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</a:t>
            </a:r>
            <a:r>
              <a:rPr lang="es-ES" sz="18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</a:t>
            </a:r>
            <a:endParaRPr lang="es-ES" sz="18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5400" b="1" noProof="0" dirty="0">
                <a:solidFill>
                  <a:srgbClr val="02C39A"/>
                </a:solidFill>
              </a:rPr>
              <a:t>🎬 DEMO</a:t>
            </a:r>
            <a:endParaRPr lang="es-ES" sz="5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200" noProof="0" dirty="0">
                <a:solidFill>
                  <a:srgbClr val="F8FAFC"/>
                </a:solidFill>
              </a:rPr>
              <a:t>Visualización en Tiempo Real</a:t>
            </a:r>
            <a:endParaRPr lang="es-ES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400" i="1" noProof="0" dirty="0">
                <a:solidFill>
                  <a:srgbClr val="64748B"/>
                </a:solidFill>
              </a:rPr>
              <a:t>Terminal + </a:t>
            </a:r>
            <a:r>
              <a:rPr lang="es-ES" sz="1400" i="1" noProof="0" dirty="0" err="1">
                <a:solidFill>
                  <a:srgbClr val="64748B"/>
                </a:solidFill>
              </a:rPr>
              <a:t>Grafana</a:t>
            </a:r>
            <a:r>
              <a:rPr lang="es-ES" sz="1400" i="1" noProof="0" dirty="0">
                <a:solidFill>
                  <a:srgbClr val="64748B"/>
                </a:solidFill>
              </a:rPr>
              <a:t> </a:t>
            </a:r>
            <a:r>
              <a:rPr lang="es-ES" sz="1400" i="1" noProof="0" dirty="0" err="1">
                <a:solidFill>
                  <a:srgbClr val="64748B"/>
                </a:solidFill>
              </a:rPr>
              <a:t>Dashboard</a:t>
            </a:r>
            <a:endParaRPr lang="es-ES" sz="14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Resultados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6459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3200" b="1" noProof="0" dirty="0">
                <a:solidFill>
                  <a:srgbClr val="028090"/>
                </a:solidFill>
              </a:rPr>
              <a:t>~150</a:t>
            </a:r>
            <a:endParaRPr lang="es-ES" sz="32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Líneas de código</a:t>
            </a:r>
            <a:endParaRPr lang="es-ES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926080" y="1371600"/>
            <a:ext cx="16459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292608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3200" b="1" noProof="0" dirty="0">
                <a:solidFill>
                  <a:srgbClr val="00A896"/>
                </a:solidFill>
              </a:rPr>
              <a:t>3</a:t>
            </a:r>
            <a:endParaRPr lang="es-ES" sz="3200" noProof="0" dirty="0"/>
          </a:p>
        </p:txBody>
      </p:sp>
      <p:sp>
        <p:nvSpPr>
          <p:cNvPr id="8" name="Text 6"/>
          <p:cNvSpPr/>
          <p:nvPr/>
        </p:nvSpPr>
        <p:spPr>
          <a:xfrm>
            <a:off x="292608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Contenedores</a:t>
            </a:r>
            <a:endParaRPr lang="es-ES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16459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3200" b="1" noProof="0" dirty="0">
                <a:solidFill>
                  <a:srgbClr val="02C39A"/>
                </a:solidFill>
              </a:rPr>
              <a:t>&lt;2 min</a:t>
            </a:r>
            <a:endParaRPr lang="es-E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Tiempo de despliegue</a:t>
            </a:r>
            <a:endParaRPr lang="es-ES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16459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694944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3200" b="1" noProof="0" dirty="0">
                <a:solidFill>
                  <a:srgbClr val="10B981"/>
                </a:solidFill>
              </a:rPr>
              <a:t>12/min</a:t>
            </a:r>
            <a:endParaRPr lang="es-ES" sz="3200" noProof="0" dirty="0"/>
          </a:p>
        </p:txBody>
      </p:sp>
      <p:sp>
        <p:nvSpPr>
          <p:cNvPr id="14" name="Text 12"/>
          <p:cNvSpPr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Datos capturados</a:t>
            </a:r>
            <a:endParaRPr lang="es-ES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1E293B"/>
                </a:solidFill>
              </a:rPr>
              <a:t>💾 Datos Simulados:</a:t>
            </a:r>
            <a:endParaRPr lang="es-ES" sz="1600" noProof="0" dirty="0"/>
          </a:p>
        </p:txBody>
      </p:sp>
      <p:sp>
        <p:nvSpPr>
          <p:cNvPr id="16" name="Shape 14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 15"/>
          <p:cNvSpPr/>
          <p:nvPr/>
        </p:nvSpPr>
        <p:spPr>
          <a:xfrm>
            <a:off x="155448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🌡️ Temperatura</a:t>
            </a:r>
            <a:endParaRPr lang="es-ES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34747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Rango: 18-30°C</a:t>
            </a:r>
            <a:endParaRPr lang="es-ES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594360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028090"/>
                </a:solidFill>
              </a:rPr>
              <a:t>Cada 5 </a:t>
            </a:r>
            <a:r>
              <a:rPr lang="es-ES" sz="1100" noProof="0" dirty="0" err="1">
                <a:solidFill>
                  <a:srgbClr val="028090"/>
                </a:solidFill>
              </a:rPr>
              <a:t>seg</a:t>
            </a:r>
            <a:endParaRPr lang="es-ES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15544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💧 Humedad</a:t>
            </a:r>
            <a:endParaRPr lang="es-ES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347472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Rango: 40-80%</a:t>
            </a:r>
            <a:endParaRPr lang="es-ES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59436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028090"/>
                </a:solidFill>
              </a:rPr>
              <a:t>Cada 5 </a:t>
            </a:r>
            <a:r>
              <a:rPr lang="es-ES" sz="1100" noProof="0" dirty="0" err="1">
                <a:solidFill>
                  <a:srgbClr val="028090"/>
                </a:solidFill>
              </a:rPr>
              <a:t>seg</a:t>
            </a:r>
            <a:endParaRPr lang="es-ES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Text 23"/>
          <p:cNvSpPr/>
          <p:nvPr/>
        </p:nvSpPr>
        <p:spPr>
          <a:xfrm>
            <a:off x="155448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E293B"/>
                </a:solidFill>
              </a:rPr>
              <a:t>🔽 Presión</a:t>
            </a:r>
            <a:endParaRPr lang="es-ES" sz="1300" noProof="0" dirty="0"/>
          </a:p>
        </p:txBody>
      </p:sp>
      <p:sp>
        <p:nvSpPr>
          <p:cNvPr id="26" name="Text 24"/>
          <p:cNvSpPr/>
          <p:nvPr/>
        </p:nvSpPr>
        <p:spPr>
          <a:xfrm>
            <a:off x="34747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Rango: 1010-1016 hPa</a:t>
            </a:r>
            <a:endParaRPr lang="es-ES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594360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028090"/>
                </a:solidFill>
              </a:rPr>
              <a:t>Cada 5 </a:t>
            </a:r>
            <a:r>
              <a:rPr lang="es-ES" sz="1100" noProof="0" dirty="0" err="1">
                <a:solidFill>
                  <a:srgbClr val="028090"/>
                </a:solidFill>
              </a:rPr>
              <a:t>seg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Aprendizajes Clave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3200" noProof="0" dirty="0">
                <a:solidFill>
                  <a:srgbClr val="000000"/>
                </a:solidFill>
              </a:rPr>
              <a:t>🐳</a:t>
            </a:r>
            <a:endParaRPr lang="es-ES" sz="3200" noProof="0" dirty="0"/>
          </a:p>
        </p:txBody>
      </p:sp>
      <p:sp>
        <p:nvSpPr>
          <p:cNvPr id="5" name="Text 3"/>
          <p:cNvSpPr/>
          <p:nvPr/>
        </p:nvSpPr>
        <p:spPr>
          <a:xfrm>
            <a:off x="1463040" y="1389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1E293B"/>
                </a:solidFill>
              </a:rPr>
              <a:t>Docker </a:t>
            </a:r>
            <a:r>
              <a:rPr lang="es-ES" sz="1400" b="1" noProof="0" dirty="0" err="1">
                <a:solidFill>
                  <a:srgbClr val="1E293B"/>
                </a:solidFill>
              </a:rPr>
              <a:t>Compose</a:t>
            </a:r>
            <a:endParaRPr lang="es-ES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Orquestación de múltiples contenedores con un solo comando</a:t>
            </a:r>
            <a:endParaRPr lang="es-ES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657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49834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3200" noProof="0" dirty="0">
                <a:solidFill>
                  <a:srgbClr val="000000"/>
                </a:solidFill>
              </a:rPr>
              <a:t>🌐</a:t>
            </a:r>
            <a:endParaRPr lang="es-ES" sz="3200" noProof="0" dirty="0"/>
          </a:p>
        </p:txBody>
      </p:sp>
      <p:sp>
        <p:nvSpPr>
          <p:cNvPr id="9" name="Text 7"/>
          <p:cNvSpPr/>
          <p:nvPr/>
        </p:nvSpPr>
        <p:spPr>
          <a:xfrm>
            <a:off x="5577840" y="1389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1E293B"/>
                </a:solidFill>
              </a:rPr>
              <a:t>Redes Docker</a:t>
            </a:r>
            <a:endParaRPr lang="es-ES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557784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Comunicación entre contenedores mediante DNS interno</a:t>
            </a:r>
            <a:endParaRPr lang="es-ES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3657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3200" noProof="0" dirty="0">
                <a:solidFill>
                  <a:srgbClr val="000000"/>
                </a:solidFill>
              </a:rPr>
              <a:t>💾</a:t>
            </a:r>
            <a:endParaRPr lang="es-ES" sz="32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2487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1E293B"/>
                </a:solidFill>
              </a:rPr>
              <a:t>Persistencia</a:t>
            </a:r>
            <a:endParaRPr lang="es-ES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146304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Uso de volúmenes para mantener datos entre reinicios</a:t>
            </a:r>
            <a:endParaRPr lang="es-ES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4846320" y="2377440"/>
            <a:ext cx="3657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49834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3200" noProof="0" dirty="0">
                <a:solidFill>
                  <a:srgbClr val="000000"/>
                </a:solidFill>
              </a:rPr>
              <a:t>⚙️</a:t>
            </a:r>
            <a:endParaRPr lang="es-ES" sz="3200" noProof="0" dirty="0"/>
          </a:p>
        </p:txBody>
      </p:sp>
      <p:sp>
        <p:nvSpPr>
          <p:cNvPr id="17" name="Text 15"/>
          <p:cNvSpPr/>
          <p:nvPr/>
        </p:nvSpPr>
        <p:spPr>
          <a:xfrm>
            <a:off x="5577840" y="2487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 err="1">
                <a:solidFill>
                  <a:srgbClr val="1E293B"/>
                </a:solidFill>
              </a:rPr>
              <a:t>Provisioning</a:t>
            </a:r>
            <a:endParaRPr lang="es-ES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557784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Configuración como código para automatización completa</a:t>
            </a:r>
            <a:endParaRPr lang="es-ES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3657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8"/>
          <p:cNvSpPr/>
          <p:nvPr/>
        </p:nvSpPr>
        <p:spPr>
          <a:xfrm>
            <a:off x="8686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3200" noProof="0" dirty="0">
                <a:solidFill>
                  <a:srgbClr val="000000"/>
                </a:solidFill>
              </a:rPr>
              <a:t>🔧</a:t>
            </a:r>
            <a:endParaRPr lang="es-ES" sz="3200" noProof="0" dirty="0"/>
          </a:p>
        </p:txBody>
      </p:sp>
      <p:sp>
        <p:nvSpPr>
          <p:cNvPr id="21" name="Text 19"/>
          <p:cNvSpPr/>
          <p:nvPr/>
        </p:nvSpPr>
        <p:spPr>
          <a:xfrm>
            <a:off x="1463040" y="3584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 err="1">
                <a:solidFill>
                  <a:srgbClr val="1E293B"/>
                </a:solidFill>
              </a:rPr>
              <a:t>Debugging</a:t>
            </a:r>
            <a:endParaRPr lang="es-ES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146304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Resolución de problemas de conectividad y configuración</a:t>
            </a:r>
            <a:endParaRPr lang="es-ES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4846320" y="3474720"/>
            <a:ext cx="3657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22"/>
          <p:cNvSpPr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3200" noProof="0" dirty="0">
                <a:solidFill>
                  <a:srgbClr val="000000"/>
                </a:solidFill>
              </a:rPr>
              <a:t>📊</a:t>
            </a:r>
            <a:endParaRPr lang="es-ES" sz="3200" noProof="0" dirty="0"/>
          </a:p>
        </p:txBody>
      </p:sp>
      <p:sp>
        <p:nvSpPr>
          <p:cNvPr id="25" name="Text 23"/>
          <p:cNvSpPr/>
          <p:nvPr/>
        </p:nvSpPr>
        <p:spPr>
          <a:xfrm>
            <a:off x="5577840" y="3584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1E293B"/>
                </a:solidFill>
              </a:rPr>
              <a:t>Series Temporales</a:t>
            </a:r>
            <a:endParaRPr lang="es-ES" sz="1400" noProof="0" dirty="0"/>
          </a:p>
        </p:txBody>
      </p:sp>
      <p:sp>
        <p:nvSpPr>
          <p:cNvPr id="26" name="Text 24"/>
          <p:cNvSpPr/>
          <p:nvPr/>
        </p:nvSpPr>
        <p:spPr>
          <a:xfrm>
            <a:off x="557784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</a:rPr>
              <a:t>Uso de </a:t>
            </a:r>
            <a:r>
              <a:rPr lang="es-ES" sz="1100" noProof="0" dirty="0" err="1">
                <a:solidFill>
                  <a:srgbClr val="64748B"/>
                </a:solidFill>
              </a:rPr>
              <a:t>InfluxDB</a:t>
            </a:r>
            <a:r>
              <a:rPr lang="es-ES" sz="1100" noProof="0" dirty="0">
                <a:solidFill>
                  <a:srgbClr val="64748B"/>
                </a:solidFill>
              </a:rPr>
              <a:t> especializada para datos </a:t>
            </a:r>
            <a:r>
              <a:rPr lang="es-ES" sz="1100" noProof="0" dirty="0" err="1">
                <a:solidFill>
                  <a:srgbClr val="64748B"/>
                </a:solidFill>
              </a:rPr>
              <a:t>IoT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Mejoras Futuras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🔢</a:t>
            </a:r>
            <a:endParaRPr lang="es-ES" sz="2000" noProof="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Múltiples sensores con ubicaciones diferentes</a:t>
            </a:r>
            <a:endParaRPr lang="es-ES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🚨</a:t>
            </a:r>
            <a:endParaRPr lang="es-E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539496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Alertas cuando temperatura &gt; 28°C</a:t>
            </a:r>
            <a:endParaRPr lang="es-ES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📡</a:t>
            </a:r>
            <a:endParaRPr lang="es-ES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Protocolo MQTT para comunicación </a:t>
            </a:r>
            <a:r>
              <a:rPr lang="es-ES" sz="1300" noProof="0" dirty="0" err="1">
                <a:solidFill>
                  <a:srgbClr val="1E293B"/>
                </a:solidFill>
              </a:rPr>
              <a:t>IoT</a:t>
            </a:r>
            <a:r>
              <a:rPr lang="es-ES" sz="1300" noProof="0" dirty="0">
                <a:solidFill>
                  <a:srgbClr val="1E293B"/>
                </a:solidFill>
              </a:rPr>
              <a:t> real</a:t>
            </a:r>
            <a:endParaRPr lang="es-ES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484632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🔐</a:t>
            </a:r>
            <a:endParaRPr lang="es-ES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539496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Docker </a:t>
            </a:r>
            <a:r>
              <a:rPr lang="es-ES" sz="1300" noProof="0" dirty="0" err="1">
                <a:solidFill>
                  <a:srgbClr val="1E293B"/>
                </a:solidFill>
              </a:rPr>
              <a:t>secrets</a:t>
            </a:r>
            <a:r>
              <a:rPr lang="es-ES" sz="1300" noProof="0" dirty="0">
                <a:solidFill>
                  <a:srgbClr val="1E293B"/>
                </a:solidFill>
              </a:rPr>
              <a:t> para credenciales seguras</a:t>
            </a:r>
            <a:endParaRPr lang="es-ES" sz="1300" noProof="0" dirty="0"/>
          </a:p>
        </p:txBody>
      </p:sp>
      <p:sp>
        <p:nvSpPr>
          <p:cNvPr id="15" name="Shape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🤖</a:t>
            </a:r>
            <a:endParaRPr lang="es-E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2801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Machine </a:t>
            </a:r>
            <a:r>
              <a:rPr lang="es-ES" sz="1300" noProof="0" dirty="0" err="1">
                <a:solidFill>
                  <a:srgbClr val="1E293B"/>
                </a:solidFill>
              </a:rPr>
              <a:t>Learning</a:t>
            </a:r>
            <a:r>
              <a:rPr lang="es-ES" sz="1300" noProof="0" dirty="0">
                <a:solidFill>
                  <a:srgbClr val="1E293B"/>
                </a:solidFill>
              </a:rPr>
              <a:t> para anomalías</a:t>
            </a:r>
            <a:endParaRPr lang="es-ES" sz="1300" noProof="0" dirty="0"/>
          </a:p>
        </p:txBody>
      </p:sp>
      <p:sp>
        <p:nvSpPr>
          <p:cNvPr id="18" name="Shape 16"/>
          <p:cNvSpPr/>
          <p:nvPr/>
        </p:nvSpPr>
        <p:spPr>
          <a:xfrm>
            <a:off x="484632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📱</a:t>
            </a:r>
            <a:endParaRPr lang="es-E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53949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API REST para consultas externas</a:t>
            </a:r>
            <a:endParaRPr lang="es-ES" sz="1300" noProof="0" dirty="0"/>
          </a:p>
        </p:txBody>
      </p:sp>
      <p:sp>
        <p:nvSpPr>
          <p:cNvPr id="21" name="Shape 19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20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☁️</a:t>
            </a:r>
            <a:endParaRPr lang="es-ES" sz="2000" noProof="0" dirty="0"/>
          </a:p>
        </p:txBody>
      </p:sp>
      <p:sp>
        <p:nvSpPr>
          <p:cNvPr id="23" name="Text 21"/>
          <p:cNvSpPr/>
          <p:nvPr/>
        </p:nvSpPr>
        <p:spPr>
          <a:xfrm>
            <a:off x="128016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Despliegue en </a:t>
            </a:r>
            <a:r>
              <a:rPr lang="es-ES" sz="1300" noProof="0" dirty="0" err="1">
                <a:solidFill>
                  <a:srgbClr val="1E293B"/>
                </a:solidFill>
              </a:rPr>
              <a:t>cloud</a:t>
            </a:r>
            <a:r>
              <a:rPr lang="es-ES" sz="1300" noProof="0" dirty="0">
                <a:solidFill>
                  <a:srgbClr val="1E293B"/>
                </a:solidFill>
              </a:rPr>
              <a:t> (AWS/Azure)</a:t>
            </a:r>
            <a:endParaRPr lang="es-ES" sz="1300" noProof="0" dirty="0"/>
          </a:p>
        </p:txBody>
      </p:sp>
      <p:sp>
        <p:nvSpPr>
          <p:cNvPr id="24" name="Shape 22"/>
          <p:cNvSpPr/>
          <p:nvPr/>
        </p:nvSpPr>
        <p:spPr>
          <a:xfrm>
            <a:off x="4846320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Text 23"/>
          <p:cNvSpPr/>
          <p:nvPr/>
        </p:nvSpPr>
        <p:spPr>
          <a:xfrm>
            <a:off x="48463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000000"/>
                </a:solidFill>
              </a:rPr>
              <a:t>🔄</a:t>
            </a:r>
            <a:endParaRPr lang="es-ES" sz="2000" noProof="0" dirty="0"/>
          </a:p>
        </p:txBody>
      </p:sp>
      <p:sp>
        <p:nvSpPr>
          <p:cNvPr id="26" name="Text 24"/>
          <p:cNvSpPr/>
          <p:nvPr/>
        </p:nvSpPr>
        <p:spPr>
          <a:xfrm>
            <a:off x="539496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1E293B"/>
                </a:solidFill>
              </a:rPr>
              <a:t>CI/CD con GitHub </a:t>
            </a:r>
            <a:r>
              <a:rPr lang="es-ES" sz="1300" noProof="0" dirty="0" err="1">
                <a:solidFill>
                  <a:srgbClr val="1E293B"/>
                </a:solidFill>
              </a:rPr>
              <a:t>Actions</a:t>
            </a:r>
            <a:endParaRPr lang="es-ES" sz="13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noProof="0" dirty="0">
                <a:solidFill>
                  <a:srgbClr val="1E293B"/>
                </a:solidFill>
              </a:rPr>
              <a:t>Conclusiones</a:t>
            </a:r>
            <a:endParaRPr lang="es-ES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73152" y="1280160"/>
            <a:ext cx="73152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noProof="0" dirty="0">
                <a:solidFill>
                  <a:srgbClr val="1E293B"/>
                </a:solidFill>
              </a:rPr>
              <a:t>1. Docker </a:t>
            </a:r>
            <a:r>
              <a:rPr lang="es-ES" sz="1400" noProof="0" dirty="0" err="1">
                <a:solidFill>
                  <a:srgbClr val="1E293B"/>
                </a:solidFill>
              </a:rPr>
              <a:t>Compose</a:t>
            </a:r>
            <a:r>
              <a:rPr lang="es-ES" sz="1400" noProof="0" dirty="0">
                <a:solidFill>
                  <a:srgbClr val="1E293B"/>
                </a:solidFill>
              </a:rPr>
              <a:t> permite desplegar sistemas complejos de forma reproducible y portable</a:t>
            </a:r>
            <a:endParaRPr lang="es-ES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73152" y="1874520"/>
            <a:ext cx="73152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noProof="0" dirty="0">
                <a:solidFill>
                  <a:srgbClr val="1E293B"/>
                </a:solidFill>
              </a:rPr>
              <a:t>2. El uso de </a:t>
            </a:r>
            <a:r>
              <a:rPr lang="es-ES" sz="1400" noProof="0" dirty="0" err="1">
                <a:solidFill>
                  <a:srgbClr val="1E293B"/>
                </a:solidFill>
              </a:rPr>
              <a:t>provisioning</a:t>
            </a:r>
            <a:r>
              <a:rPr lang="es-ES" sz="1400" noProof="0" dirty="0">
                <a:solidFill>
                  <a:srgbClr val="1E293B"/>
                </a:solidFill>
              </a:rPr>
              <a:t> automatiza la configuración y elimina errores manuales</a:t>
            </a:r>
            <a:endParaRPr lang="es-ES" sz="1400" noProof="0" dirty="0"/>
          </a:p>
        </p:txBody>
      </p:sp>
      <p:sp>
        <p:nvSpPr>
          <p:cNvPr id="7" name="Shape 5"/>
          <p:cNvSpPr/>
          <p:nvPr/>
        </p:nvSpPr>
        <p:spPr>
          <a:xfrm>
            <a:off x="73152" y="2468880"/>
            <a:ext cx="73152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noProof="0" dirty="0">
                <a:solidFill>
                  <a:srgbClr val="1E293B"/>
                </a:solidFill>
              </a:rPr>
              <a:t>3. </a:t>
            </a:r>
            <a:r>
              <a:rPr lang="es-ES" sz="1400" noProof="0" dirty="0" err="1">
                <a:solidFill>
                  <a:srgbClr val="1E293B"/>
                </a:solidFill>
              </a:rPr>
              <a:t>InfluxDB</a:t>
            </a:r>
            <a:r>
              <a:rPr lang="es-ES" sz="1400" noProof="0" dirty="0">
                <a:solidFill>
                  <a:srgbClr val="1E293B"/>
                </a:solidFill>
              </a:rPr>
              <a:t> es ideal para </a:t>
            </a:r>
            <a:r>
              <a:rPr lang="es-ES" sz="1400" noProof="0" dirty="0" err="1">
                <a:solidFill>
                  <a:srgbClr val="1E293B"/>
                </a:solidFill>
              </a:rPr>
              <a:t>IoT</a:t>
            </a:r>
            <a:r>
              <a:rPr lang="es-ES" sz="1400" noProof="0" dirty="0">
                <a:solidFill>
                  <a:srgbClr val="1E293B"/>
                </a:solidFill>
              </a:rPr>
              <a:t> por su optimización para series temporales</a:t>
            </a:r>
            <a:endParaRPr lang="es-ES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73152" y="3063240"/>
            <a:ext cx="73152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noProof="0" dirty="0">
                <a:solidFill>
                  <a:srgbClr val="1E293B"/>
                </a:solidFill>
              </a:rPr>
              <a:t>4. La persistencia de datos requiere correcta configuración de volúmenes</a:t>
            </a:r>
            <a:endParaRPr lang="es-ES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73152" y="3657600"/>
            <a:ext cx="73152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noProof="0" dirty="0">
                <a:solidFill>
                  <a:srgbClr val="1E293B"/>
                </a:solidFill>
              </a:rPr>
              <a:t>5. El </a:t>
            </a:r>
            <a:r>
              <a:rPr lang="es-ES" sz="1400" noProof="0" dirty="0" err="1">
                <a:solidFill>
                  <a:srgbClr val="1E293B"/>
                </a:solidFill>
              </a:rPr>
              <a:t>debugging</a:t>
            </a:r>
            <a:r>
              <a:rPr lang="es-ES" sz="1400" noProof="0" dirty="0">
                <a:solidFill>
                  <a:srgbClr val="1E293B"/>
                </a:solidFill>
              </a:rPr>
              <a:t> sistemático es clave: cada problema tiene una solución documentable</a:t>
            </a:r>
            <a:endParaRPr lang="es-ES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73152" y="4251960"/>
            <a:ext cx="73152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noProof="0" dirty="0">
                <a:solidFill>
                  <a:srgbClr val="1E293B"/>
                </a:solidFill>
              </a:rPr>
              <a:t>6. La arquitectura de microservicios facilita el escalado y mantenimiento</a:t>
            </a:r>
            <a:endParaRPr lang="es-ES" sz="14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5400" b="1" noProof="0" dirty="0">
                <a:solidFill>
                  <a:srgbClr val="02C39A"/>
                </a:solidFill>
              </a:rPr>
              <a:t>¡GRACIAS!</a:t>
            </a:r>
            <a:endParaRPr lang="es-ES" sz="54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2800" noProof="0" dirty="0">
                <a:solidFill>
                  <a:srgbClr val="F8FAFC"/>
                </a:solidFill>
              </a:rPr>
              <a:t>¿Preguntas?</a:t>
            </a:r>
            <a:endParaRPr lang="es-ES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182880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FFFFFF"/>
                </a:solidFill>
              </a:rPr>
              <a:t> Proyecto completo en GitHub</a:t>
            </a:r>
            <a:endParaRPr lang="es-ES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1828800" y="3703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200" noProof="0" dirty="0">
                <a:solidFill>
                  <a:srgbClr val="D1FAE5"/>
                </a:solidFill>
              </a:rPr>
              <a:t>Incluye: Código • Documentación • Configuración</a:t>
            </a:r>
            <a:endParaRPr lang="es-ES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828800" y="4023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300" i="1" noProof="0" dirty="0" err="1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r>
              <a:rPr lang="es-ES" sz="1300" i="1" noProof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1300" i="1" noProof="0" dirty="0" err="1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</a:t>
            </a:r>
            <a:r>
              <a:rPr lang="es-ES" sz="1300" i="1" noProof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 → Sistema funcionando</a:t>
            </a:r>
            <a:endParaRPr lang="es-ES" sz="13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1144</Words>
  <Application>Microsoft Office PowerPoint</Application>
  <PresentationFormat>Presentación en pantalla (16:9)</PresentationFormat>
  <Paragraphs>272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Simulador de Sensores IoT con Docker - Proceso Completo</dc:title>
  <dc:subject>PptxGenJS Presentation</dc:subject>
  <dc:creator>Estudiante IoT</dc:creator>
  <cp:lastModifiedBy>Jon Ochoa Cerezo</cp:lastModifiedBy>
  <cp:revision>2</cp:revision>
  <dcterms:created xsi:type="dcterms:W3CDTF">2026-02-18T19:15:06Z</dcterms:created>
  <dcterms:modified xsi:type="dcterms:W3CDTF">2026-02-18T19:38:35Z</dcterms:modified>
</cp:coreProperties>
</file>